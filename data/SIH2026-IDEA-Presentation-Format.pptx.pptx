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Etna Sans Serif" charset="1" panose="02000600000000000000"/>
      <p:regular r:id="rId13"/>
    </p:embeddedFont>
    <p:embeddedFont>
      <p:font typeface="Garamond Bold" charset="1" panose="02020804030307010803"/>
      <p:regular r:id="rId14"/>
    </p:embeddedFont>
    <p:embeddedFont>
      <p:font typeface="Times New Roman Bold" charset="1" panose="02020803070505020304"/>
      <p:regular r:id="rId15"/>
    </p:embeddedFont>
    <p:embeddedFont>
      <p:font typeface="Times New Roman" charset="1" panose="02020603050405020304"/>
      <p:regular r:id="rId16"/>
    </p:embeddedFont>
    <p:embeddedFont>
      <p:font typeface="Arial Bold" charset="1" panose="020B0704020202020204"/>
      <p:regular r:id="rId17"/>
    </p:embeddedFont>
    <p:embeddedFont>
      <p:font typeface="Arial" charset="1" panose="020B0604020202020204"/>
      <p:regular r:id="rId18"/>
    </p:embeddedFont>
    <p:embeddedFont>
      <p:font typeface="Arimo Bold" charset="1" panose="020B0704020202020204"/>
      <p:regular r:id="rId22"/>
    </p:embeddedFont>
    <p:embeddedFont>
      <p:font typeface="Gagalin" charset="1" panose="00000500000000000000"/>
      <p:regular r:id="rId23"/>
    </p:embeddedFont>
    <p:embeddedFont>
      <p:font typeface="Garamond" charset="1" panose="02020404030301010803"/>
      <p:regular r:id="rId24"/>
    </p:embeddedFont>
    <p:embeddedFont>
      <p:font typeface="Noto Serif Ethiopic Condensed" charset="1" panose="02020502060505020204"/>
      <p:regular r:id="rId26"/>
    </p:embeddedFont>
    <p:embeddedFont>
      <p:font typeface="Copperplate Gothic 29 BC" charset="1" panose="020E0504020206020404"/>
      <p:regular r:id="rId28"/>
    </p:embeddedFont>
    <p:embeddedFont>
      <p:font typeface="Copperplate Gothic 29 BC Bold" charset="1" panose="020E0604020206020404"/>
      <p:regular r:id="rId29"/>
    </p:embeddedFont>
    <p:embeddedFont>
      <p:font typeface="Impact" charset="1" panose="020B0806030902050204"/>
      <p:regular r:id="rId31"/>
    </p:embeddedFont>
    <p:embeddedFont>
      <p:font typeface="Noto Serif Ethiopic Condensed Bold" charset="1" panose="02020502060505020204"/>
      <p:regular r:id="rId32"/>
    </p:embeddedFont>
    <p:embeddedFont>
      <p:font typeface="Lilita One" charset="1" panose="020000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notesSlides/notesSlide5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ndr.dghindia.gov.in/?utm_source=chatgpt.com" TargetMode="External" Type="http://schemas.openxmlformats.org/officeDocument/2006/relationships/hyperlink"/><Relationship Id="rId11" Target="../media/image6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0.png" Type="http://schemas.openxmlformats.org/officeDocument/2006/relationships/image"/><Relationship Id="rId6" Target="https://www.sih.gov.in/?utm_source=chatgpt.com" TargetMode="External" Type="http://schemas.openxmlformats.org/officeDocument/2006/relationships/hyperlink"/><Relationship Id="rId7" Target="https://www.oil-india.com/?utm_source=chatgpt.com" TargetMode="External" Type="http://schemas.openxmlformats.org/officeDocument/2006/relationships/hyperlink"/><Relationship Id="rId8" Target="https://github.com/petrobras/3W?utm_source=chatgpt.com" TargetMode="External" Type="http://schemas.openxmlformats.org/officeDocument/2006/relationships/hyperlink"/><Relationship Id="rId9" Target="https://connect.spe.org/blogs/bruno-mapurunga/2025/06/26/datadrill-public-dataset-for-formation-pressure-pr?utm_source=chatgpt.com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2832" y="4191586"/>
            <a:ext cx="4814712" cy="5350679"/>
          </a:xfrm>
          <a:custGeom>
            <a:avLst/>
            <a:gdLst/>
            <a:ahLst/>
            <a:cxnLst/>
            <a:rect r="r" b="b" t="t" l="l"/>
            <a:pathLst>
              <a:path h="5350679" w="4814712">
                <a:moveTo>
                  <a:pt x="0" y="0"/>
                </a:moveTo>
                <a:lnTo>
                  <a:pt x="4814712" y="0"/>
                </a:lnTo>
                <a:lnTo>
                  <a:pt x="4814712" y="5350679"/>
                </a:lnTo>
                <a:lnTo>
                  <a:pt x="0" y="53506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59670" y="4484646"/>
            <a:ext cx="2799630" cy="2994276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471329" y="628964"/>
            <a:ext cx="9616549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1"/>
              </a:lnSpc>
            </a:pPr>
          </a:p>
          <a:p>
            <a:pPr algn="ctr">
              <a:lnSpc>
                <a:spcPts val="5371"/>
              </a:lnSpc>
            </a:pPr>
            <a:r>
              <a:rPr lang="en-US" sz="4475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“NW</a:t>
            </a:r>
            <a:r>
              <a:rPr lang="en-US" sz="4475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IS — AI-Powered Nearby Well Intelligence for Safer Drilling”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7359" y="0"/>
            <a:ext cx="12530701" cy="1206475"/>
            <a:chOff x="0" y="0"/>
            <a:chExt cx="16707601" cy="16086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07602" cy="1608634"/>
            </a:xfrm>
            <a:custGeom>
              <a:avLst/>
              <a:gdLst/>
              <a:ahLst/>
              <a:cxnLst/>
              <a:rect r="r" b="b" t="t" l="l"/>
              <a:pathLst>
                <a:path h="1608634" w="16707602">
                  <a:moveTo>
                    <a:pt x="0" y="0"/>
                  </a:moveTo>
                  <a:lnTo>
                    <a:pt x="16707602" y="0"/>
                  </a:lnTo>
                  <a:lnTo>
                    <a:pt x="16707602" y="1608634"/>
                  </a:lnTo>
                  <a:lnTo>
                    <a:pt x="0" y="16086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972" r="-24053" b="-28013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6707601" cy="1627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12977" y="212977"/>
            <a:ext cx="1631446" cy="1631446"/>
          </a:xfrm>
          <a:custGeom>
            <a:avLst/>
            <a:gdLst/>
            <a:ahLst/>
            <a:cxnLst/>
            <a:rect r="r" b="b" t="t" l="l"/>
            <a:pathLst>
              <a:path h="1631446" w="1631446">
                <a:moveTo>
                  <a:pt x="0" y="0"/>
                </a:moveTo>
                <a:lnTo>
                  <a:pt x="1631446" y="0"/>
                </a:lnTo>
                <a:lnTo>
                  <a:pt x="1631446" y="1631446"/>
                </a:lnTo>
                <a:lnTo>
                  <a:pt x="0" y="16314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45696" y="2175512"/>
            <a:ext cx="12242183" cy="716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– 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26121</a:t>
            </a:r>
          </a:p>
          <a:p>
            <a:pPr algn="just" marL="506734" indent="-253367" lvl="1">
              <a:lnSpc>
                <a:spcPts val="67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-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eRTMAC-NWIS(Nearby Wells Intelligence System): </a:t>
            </a:r>
          </a:p>
          <a:p>
            <a:pPr algn="just">
              <a:lnSpc>
                <a:spcPts val="6720"/>
              </a:lnSpc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An AI-Powered Offset Well Knowledge and Decision Support Platform For Drilling Operations </a:t>
            </a:r>
          </a:p>
          <a:p>
            <a:pPr algn="just" marL="506734" indent="-253367" lvl="1">
              <a:lnSpc>
                <a:spcPts val="67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Smart Automation </a:t>
            </a:r>
          </a:p>
          <a:p>
            <a:pPr algn="just" marL="506734" indent="-253367" lvl="1">
              <a:lnSpc>
                <a:spcPts val="67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Category- 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just" marL="506734" indent="-253367" lvl="1">
              <a:lnSpc>
                <a:spcPts val="67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ID- 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U13UM7H3</a:t>
            </a:r>
          </a:p>
          <a:p>
            <a:pPr algn="just" marL="506734" indent="-253367" lvl="1">
              <a:lnSpc>
                <a:spcPts val="67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82212"/>
            <a:ext cx="18288000" cy="204788"/>
            <a:chOff x="0" y="0"/>
            <a:chExt cx="24384000" cy="273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73050"/>
            </a:xfrm>
            <a:custGeom>
              <a:avLst/>
              <a:gdLst/>
              <a:ahLst/>
              <a:cxnLst/>
              <a:rect r="r" b="b" t="t" l="l"/>
              <a:pathLst>
                <a:path h="2730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73050"/>
                  </a:lnTo>
                  <a:lnTo>
                    <a:pt x="0" y="2730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61406" y="-163850"/>
            <a:ext cx="11455869" cy="2570607"/>
            <a:chOff x="0" y="0"/>
            <a:chExt cx="15274492" cy="34274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74492" cy="3427476"/>
            </a:xfrm>
            <a:custGeom>
              <a:avLst/>
              <a:gdLst/>
              <a:ahLst/>
              <a:cxnLst/>
              <a:rect r="r" b="b" t="t" l="l"/>
              <a:pathLst>
                <a:path h="3427476" w="15274492">
                  <a:moveTo>
                    <a:pt x="0" y="0"/>
                  </a:moveTo>
                  <a:lnTo>
                    <a:pt x="15274492" y="0"/>
                  </a:lnTo>
                  <a:lnTo>
                    <a:pt x="15274492" y="3427476"/>
                  </a:lnTo>
                  <a:lnTo>
                    <a:pt x="0" y="34274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411" r="-43674" b="-5810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5274492" cy="35322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From Historical Experience → Proactive Drilling Decisions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75681" y="365271"/>
            <a:ext cx="1722655" cy="1326858"/>
            <a:chOff x="0" y="0"/>
            <a:chExt cx="2554516" cy="1967590"/>
          </a:xfrm>
        </p:grpSpPr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4478" cy="1967603"/>
            </a:xfrm>
            <a:custGeom>
              <a:avLst/>
              <a:gdLst/>
              <a:ahLst/>
              <a:cxnLst/>
              <a:rect r="r" b="b" t="t" l="l"/>
              <a:pathLst>
                <a:path h="1967603" w="2554478">
                  <a:moveTo>
                    <a:pt x="0" y="983803"/>
                  </a:moveTo>
                  <a:cubicBezTo>
                    <a:pt x="0" y="440513"/>
                    <a:pt x="571881" y="0"/>
                    <a:pt x="1277239" y="0"/>
                  </a:cubicBezTo>
                  <a:cubicBezTo>
                    <a:pt x="1982597" y="0"/>
                    <a:pt x="2554478" y="440513"/>
                    <a:pt x="2554478" y="983803"/>
                  </a:cubicBezTo>
                  <a:cubicBezTo>
                    <a:pt x="2554478" y="1527092"/>
                    <a:pt x="1982597" y="1967603"/>
                    <a:pt x="1277239" y="1967603"/>
                  </a:cubicBezTo>
                  <a:cubicBezTo>
                    <a:pt x="571881" y="1967603"/>
                    <a:pt x="0" y="1527092"/>
                    <a:pt x="0" y="98380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554516" cy="1967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sz="3599">
                  <a:solidFill>
                    <a:srgbClr val="000000"/>
                  </a:solidFill>
                  <a:latin typeface="Gagalin"/>
                  <a:ea typeface="Gagalin"/>
                  <a:cs typeface="Gagalin"/>
                  <a:sym typeface="Gagalin"/>
                </a:rPr>
                <a:t>Sp</a:t>
              </a:r>
              <a:r>
                <a:rPr lang="en-US" sz="3599">
                  <a:solidFill>
                    <a:srgbClr val="000000"/>
                  </a:solidFill>
                  <a:latin typeface="Gagalin"/>
                  <a:ea typeface="Gagalin"/>
                  <a:cs typeface="Gagalin"/>
                  <a:sym typeface="Gagalin"/>
                </a:rPr>
                <a:t>aceX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99663" y="454024"/>
            <a:ext cx="1334482" cy="1334482"/>
          </a:xfrm>
          <a:custGeom>
            <a:avLst/>
            <a:gdLst/>
            <a:ahLst/>
            <a:cxnLst/>
            <a:rect r="r" b="b" t="t" l="l"/>
            <a:pathLst>
              <a:path h="1334482" w="1334482">
                <a:moveTo>
                  <a:pt x="0" y="0"/>
                </a:moveTo>
                <a:lnTo>
                  <a:pt x="1334482" y="0"/>
                </a:lnTo>
                <a:lnTo>
                  <a:pt x="1334482" y="1334482"/>
                </a:lnTo>
                <a:lnTo>
                  <a:pt x="0" y="13344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009211" y="6941213"/>
            <a:ext cx="4982271" cy="2867156"/>
          </a:xfrm>
          <a:custGeom>
            <a:avLst/>
            <a:gdLst/>
            <a:ahLst/>
            <a:cxnLst/>
            <a:rect r="r" b="b" t="t" l="l"/>
            <a:pathLst>
              <a:path h="2867156" w="4982271">
                <a:moveTo>
                  <a:pt x="0" y="0"/>
                </a:moveTo>
                <a:lnTo>
                  <a:pt x="4982271" y="0"/>
                </a:lnTo>
                <a:lnTo>
                  <a:pt x="4982271" y="2867156"/>
                </a:lnTo>
                <a:lnTo>
                  <a:pt x="0" y="28671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91780" y="2859727"/>
            <a:ext cx="7621381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904" indent="-356452" lvl="1">
              <a:lnSpc>
                <a:spcPts val="3962"/>
              </a:lnSpc>
              <a:buFont typeface="Arial"/>
              <a:buChar char="•"/>
            </a:pPr>
            <a:r>
              <a:rPr lang="en-US" b="true" sz="3302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PROBLEM </a:t>
            </a:r>
          </a:p>
          <a:p>
            <a:pPr algn="l">
              <a:lnSpc>
                <a:spcPts val="3242"/>
              </a:lnSpc>
            </a:pPr>
          </a:p>
          <a:p>
            <a:pPr algn="l" marL="583367" indent="-291684" lvl="1">
              <a:lnSpc>
                <a:spcPts val="3242"/>
              </a:lnSpc>
              <a:buFont typeface="Arial"/>
              <a:buChar char="•"/>
            </a:pPr>
            <a:r>
              <a:rPr lang="en-US" b="true" sz="2702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 Scattered Knowledge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Historical drilling experiences are difficult to access alongside the active well.</a:t>
            </a:r>
          </a:p>
          <a:p>
            <a:pPr algn="l">
              <a:lnSpc>
                <a:spcPts val="3242"/>
              </a:lnSpc>
            </a:pPr>
          </a:p>
          <a:p>
            <a:pPr algn="l" marL="583367" indent="-291684" lvl="1">
              <a:lnSpc>
                <a:spcPts val="3242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b="true" sz="2702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No Unified Offset View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Nearby wells, formations and historical incidents are not connected in one decision interface.</a:t>
            </a:r>
          </a:p>
          <a:p>
            <a:pPr algn="l">
              <a:lnSpc>
                <a:spcPts val="3242"/>
              </a:lnSpc>
            </a:pPr>
          </a:p>
          <a:p>
            <a:pPr algn="l" marL="583367" indent="-291684" lvl="1">
              <a:lnSpc>
                <a:spcPts val="3242"/>
              </a:lnSpc>
              <a:buFont typeface="Arial"/>
              <a:buChar char="•"/>
            </a:pPr>
            <a:r>
              <a:rPr lang="en-US" b="true" sz="2702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Reactive Risk Awareness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Similar drilling problems may only become apparent after they occur.</a:t>
            </a:r>
          </a:p>
          <a:p>
            <a:pPr algn="l">
              <a:lnSpc>
                <a:spcPts val="3242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281415" y="2869252"/>
            <a:ext cx="9092185" cy="447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3215" indent="-386608" lvl="1">
              <a:lnSpc>
                <a:spcPts val="4297"/>
              </a:lnSpc>
              <a:buFont typeface="Arial"/>
              <a:buChar char="•"/>
            </a:pPr>
            <a:r>
              <a:rPr lang="en-US" b="true" sz="358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SOLUTION</a:t>
            </a:r>
          </a:p>
          <a:p>
            <a:pPr algn="l">
              <a:lnSpc>
                <a:spcPts val="3868"/>
              </a:lnSpc>
            </a:pPr>
          </a:p>
          <a:p>
            <a:pPr algn="l" marL="695948" indent="-347974" lvl="1">
              <a:lnSpc>
                <a:spcPts val="3868"/>
              </a:lnSpc>
              <a:buFont typeface="Arial"/>
              <a:buChar char="•"/>
            </a:pPr>
            <a:r>
              <a:rPr lang="en-US" b="true" sz="3223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eRTMAC-NWIS connects:</a:t>
            </a:r>
          </a:p>
          <a:p>
            <a:pPr algn="l">
              <a:lnSpc>
                <a:spcPts val="3868"/>
              </a:lnSpc>
            </a:pPr>
          </a:p>
          <a:p>
            <a:pPr algn="l">
              <a:lnSpc>
                <a:spcPts val="3868"/>
              </a:lnSpc>
            </a:pPr>
            <a:r>
              <a:rPr lang="en-US" sz="3223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Location + Depth + Formation + Historical Events + Drilling Parameters</a:t>
            </a:r>
          </a:p>
          <a:p>
            <a:pPr algn="l">
              <a:lnSpc>
                <a:spcPts val="3868"/>
              </a:lnSpc>
            </a:pPr>
          </a:p>
          <a:p>
            <a:pPr algn="l">
              <a:lnSpc>
                <a:spcPts val="3868"/>
              </a:lnSpc>
            </a:pPr>
            <a:r>
              <a:rPr lang="en-US" sz="3223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To identify similar historical situations and generate proactive alerts.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923674"/>
            <a:ext cx="18288000" cy="363326"/>
            <a:chOff x="0" y="0"/>
            <a:chExt cx="24384000" cy="484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84435"/>
            </a:xfrm>
            <a:custGeom>
              <a:avLst/>
              <a:gdLst/>
              <a:ahLst/>
              <a:cxnLst/>
              <a:rect r="r" b="b" t="t" l="l"/>
              <a:pathLst>
                <a:path h="48443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4435"/>
                  </a:lnTo>
                  <a:lnTo>
                    <a:pt x="0" y="48443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09178" y="-32861"/>
            <a:ext cx="11171311" cy="1714500"/>
            <a:chOff x="0" y="0"/>
            <a:chExt cx="14895081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95082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895082">
                  <a:moveTo>
                    <a:pt x="0" y="0"/>
                  </a:moveTo>
                  <a:lnTo>
                    <a:pt x="14895082" y="0"/>
                  </a:lnTo>
                  <a:lnTo>
                    <a:pt x="1489508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-47334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895081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89397" y="46096"/>
            <a:ext cx="1654734" cy="1337749"/>
            <a:chOff x="0" y="0"/>
            <a:chExt cx="2060107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060076" cy="1665481"/>
            </a:xfrm>
            <a:custGeom>
              <a:avLst/>
              <a:gdLst/>
              <a:ahLst/>
              <a:cxnLst/>
              <a:rect r="r" b="b" t="t" l="l"/>
              <a:pathLst>
                <a:path h="1665481" w="2060076">
                  <a:moveTo>
                    <a:pt x="0" y="832740"/>
                  </a:moveTo>
                  <a:cubicBezTo>
                    <a:pt x="0" y="372873"/>
                    <a:pt x="461197" y="0"/>
                    <a:pt x="1030038" y="0"/>
                  </a:cubicBezTo>
                  <a:cubicBezTo>
                    <a:pt x="1598879" y="0"/>
                    <a:pt x="2060076" y="372873"/>
                    <a:pt x="2060076" y="832740"/>
                  </a:cubicBezTo>
                  <a:cubicBezTo>
                    <a:pt x="2060076" y="1292608"/>
                    <a:pt x="1598879" y="1665481"/>
                    <a:pt x="1030038" y="1665481"/>
                  </a:cubicBezTo>
                  <a:cubicBezTo>
                    <a:pt x="461197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060107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sz="3599">
                  <a:solidFill>
                    <a:srgbClr val="000000"/>
                  </a:solidFill>
                  <a:latin typeface="Gagalin"/>
                  <a:ea typeface="Gagalin"/>
                  <a:cs typeface="Gagalin"/>
                  <a:sym typeface="Gagalin"/>
                </a:rPr>
                <a:t>Sp</a:t>
              </a:r>
              <a:r>
                <a:rPr lang="en-US" sz="3599">
                  <a:solidFill>
                    <a:srgbClr val="000000"/>
                  </a:solidFill>
                  <a:latin typeface="Gagalin"/>
                  <a:ea typeface="Gagalin"/>
                  <a:cs typeface="Gagalin"/>
                  <a:sym typeface="Gagalin"/>
                </a:rPr>
                <a:t>aceX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564139" y="0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01274" y="8683338"/>
            <a:ext cx="2358770" cy="851187"/>
            <a:chOff x="0" y="0"/>
            <a:chExt cx="621240" cy="2241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1240" cy="224181"/>
            </a:xfrm>
            <a:custGeom>
              <a:avLst/>
              <a:gdLst/>
              <a:ahLst/>
              <a:cxnLst/>
              <a:rect r="r" b="b" t="t" l="l"/>
              <a:pathLst>
                <a:path h="224181" w="621240">
                  <a:moveTo>
                    <a:pt x="0" y="0"/>
                  </a:moveTo>
                  <a:lnTo>
                    <a:pt x="621240" y="0"/>
                  </a:lnTo>
                  <a:lnTo>
                    <a:pt x="621240" y="224181"/>
                  </a:lnTo>
                  <a:lnTo>
                    <a:pt x="0" y="224181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21240" cy="243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87523" y="8683338"/>
            <a:ext cx="2358770" cy="851187"/>
            <a:chOff x="0" y="0"/>
            <a:chExt cx="621240" cy="2241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1240" cy="224181"/>
            </a:xfrm>
            <a:custGeom>
              <a:avLst/>
              <a:gdLst/>
              <a:ahLst/>
              <a:cxnLst/>
              <a:rect r="r" b="b" t="t" l="l"/>
              <a:pathLst>
                <a:path h="224181" w="621240">
                  <a:moveTo>
                    <a:pt x="0" y="0"/>
                  </a:moveTo>
                  <a:lnTo>
                    <a:pt x="621240" y="0"/>
                  </a:lnTo>
                  <a:lnTo>
                    <a:pt x="621240" y="224181"/>
                  </a:lnTo>
                  <a:lnTo>
                    <a:pt x="0" y="224181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21240" cy="243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476329" y="8683338"/>
            <a:ext cx="2358770" cy="851187"/>
            <a:chOff x="0" y="0"/>
            <a:chExt cx="621240" cy="2241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1240" cy="224181"/>
            </a:xfrm>
            <a:custGeom>
              <a:avLst/>
              <a:gdLst/>
              <a:ahLst/>
              <a:cxnLst/>
              <a:rect r="r" b="b" t="t" l="l"/>
              <a:pathLst>
                <a:path h="224181" w="621240">
                  <a:moveTo>
                    <a:pt x="0" y="0"/>
                  </a:moveTo>
                  <a:lnTo>
                    <a:pt x="621240" y="0"/>
                  </a:lnTo>
                  <a:lnTo>
                    <a:pt x="621240" y="224181"/>
                  </a:lnTo>
                  <a:lnTo>
                    <a:pt x="0" y="224181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21240" cy="243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898718" y="8683338"/>
            <a:ext cx="2358770" cy="851187"/>
            <a:chOff x="0" y="0"/>
            <a:chExt cx="621240" cy="2241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240" cy="224181"/>
            </a:xfrm>
            <a:custGeom>
              <a:avLst/>
              <a:gdLst/>
              <a:ahLst/>
              <a:cxnLst/>
              <a:rect r="r" b="b" t="t" l="l"/>
              <a:pathLst>
                <a:path h="224181" w="621240">
                  <a:moveTo>
                    <a:pt x="0" y="0"/>
                  </a:moveTo>
                  <a:lnTo>
                    <a:pt x="621240" y="0"/>
                  </a:lnTo>
                  <a:lnTo>
                    <a:pt x="621240" y="224181"/>
                  </a:lnTo>
                  <a:lnTo>
                    <a:pt x="0" y="224181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21240" cy="243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84223" y="8683338"/>
            <a:ext cx="2358770" cy="851187"/>
            <a:chOff x="0" y="0"/>
            <a:chExt cx="621240" cy="2241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1240" cy="224181"/>
            </a:xfrm>
            <a:custGeom>
              <a:avLst/>
              <a:gdLst/>
              <a:ahLst/>
              <a:cxnLst/>
              <a:rect r="r" b="b" t="t" l="l"/>
              <a:pathLst>
                <a:path h="224181" w="621240">
                  <a:moveTo>
                    <a:pt x="0" y="0"/>
                  </a:moveTo>
                  <a:lnTo>
                    <a:pt x="621240" y="0"/>
                  </a:lnTo>
                  <a:lnTo>
                    <a:pt x="621240" y="224181"/>
                  </a:lnTo>
                  <a:lnTo>
                    <a:pt x="0" y="224181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21240" cy="243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400130" y="8683338"/>
            <a:ext cx="2358770" cy="851187"/>
            <a:chOff x="0" y="0"/>
            <a:chExt cx="621240" cy="22418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240" cy="224181"/>
            </a:xfrm>
            <a:custGeom>
              <a:avLst/>
              <a:gdLst/>
              <a:ahLst/>
              <a:cxnLst/>
              <a:rect r="r" b="b" t="t" l="l"/>
              <a:pathLst>
                <a:path h="224181" w="621240">
                  <a:moveTo>
                    <a:pt x="0" y="0"/>
                  </a:moveTo>
                  <a:lnTo>
                    <a:pt x="621240" y="0"/>
                  </a:lnTo>
                  <a:lnTo>
                    <a:pt x="621240" y="224181"/>
                  </a:lnTo>
                  <a:lnTo>
                    <a:pt x="0" y="224181"/>
                  </a:lnTo>
                  <a:close/>
                </a:path>
              </a:pathLst>
            </a:custGeom>
            <a:solidFill>
              <a:srgbClr val="F2672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21240" cy="243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422774" y="133930"/>
            <a:ext cx="1403986" cy="1403986"/>
          </a:xfrm>
          <a:custGeom>
            <a:avLst/>
            <a:gdLst/>
            <a:ahLst/>
            <a:cxnLst/>
            <a:rect r="r" b="b" t="t" l="l"/>
            <a:pathLst>
              <a:path h="1403986" w="1403986">
                <a:moveTo>
                  <a:pt x="0" y="0"/>
                </a:moveTo>
                <a:lnTo>
                  <a:pt x="1403987" y="0"/>
                </a:lnTo>
                <a:lnTo>
                  <a:pt x="1403987" y="1403986"/>
                </a:lnTo>
                <a:lnTo>
                  <a:pt x="0" y="14039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251786" y="3194631"/>
            <a:ext cx="15053572" cy="5269632"/>
            <a:chOff x="0" y="0"/>
            <a:chExt cx="7255481" cy="253984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55480" cy="2539843"/>
            </a:xfrm>
            <a:custGeom>
              <a:avLst/>
              <a:gdLst/>
              <a:ahLst/>
              <a:cxnLst/>
              <a:rect r="r" b="b" t="t" l="l"/>
              <a:pathLst>
                <a:path h="2539843" w="7255480">
                  <a:moveTo>
                    <a:pt x="0" y="0"/>
                  </a:moveTo>
                  <a:lnTo>
                    <a:pt x="7255480" y="0"/>
                  </a:lnTo>
                  <a:lnTo>
                    <a:pt x="7255480" y="2539843"/>
                  </a:lnTo>
                  <a:lnTo>
                    <a:pt x="0" y="2539843"/>
                  </a:lnTo>
                  <a:close/>
                </a:path>
              </a:pathLst>
            </a:custGeom>
            <a:blipFill>
              <a:blip r:embed="rId6"/>
              <a:stretch>
                <a:fillRect l="0" t="-29720" r="0" b="-2972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617555" y="1545771"/>
            <a:ext cx="14562325" cy="164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9510" indent="-244755" lvl="1">
              <a:lnSpc>
                <a:spcPts val="3245"/>
              </a:lnSpc>
              <a:buFont typeface="Arial"/>
              <a:buChar char="•"/>
            </a:pPr>
            <a:r>
              <a:rPr lang="en-US" sz="2704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Python &amp; Pandas for Data Processing, Streamlit ,Folium &amp; Branca for the Map/UI, Scikit-Learn for the similarity scoring.</a:t>
            </a:r>
          </a:p>
          <a:p>
            <a:pPr algn="just" marL="489510" indent="-244755" lvl="1">
              <a:lnSpc>
                <a:spcPts val="3245"/>
              </a:lnSpc>
              <a:buFont typeface="Arial"/>
              <a:buChar char="•"/>
            </a:pPr>
            <a:r>
              <a:rPr lang="en-US" sz="2704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Methodology: Nearby Well distance search - Formation context match--historical event retreival-risk scoring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059132" y="8772819"/>
            <a:ext cx="128066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Pandas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9407" y="8736214"/>
            <a:ext cx="125774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Python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460318" y="8772819"/>
            <a:ext cx="174307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Streamlit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398702" y="8772819"/>
            <a:ext cx="135880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Folium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108036" y="8711287"/>
            <a:ext cx="1239474" cy="7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9"/>
              </a:lnSpc>
            </a:pPr>
            <a:r>
              <a:rPr lang="en-US" sz="4149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Plotly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901456" y="8807110"/>
            <a:ext cx="335611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Scikit-learn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82212"/>
            <a:ext cx="18288000" cy="204788"/>
            <a:chOff x="0" y="0"/>
            <a:chExt cx="24384000" cy="273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73050"/>
            </a:xfrm>
            <a:custGeom>
              <a:avLst/>
              <a:gdLst/>
              <a:ahLst/>
              <a:cxnLst/>
              <a:rect r="r" b="b" t="t" l="l"/>
              <a:pathLst>
                <a:path h="2730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73050"/>
                  </a:lnTo>
                  <a:lnTo>
                    <a:pt x="0" y="2730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88637" y="153566"/>
            <a:ext cx="10062552" cy="1099285"/>
            <a:chOff x="0" y="0"/>
            <a:chExt cx="13416736" cy="14657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16736" cy="1465714"/>
            </a:xfrm>
            <a:custGeom>
              <a:avLst/>
              <a:gdLst/>
              <a:ahLst/>
              <a:cxnLst/>
              <a:rect r="r" b="b" t="t" l="l"/>
              <a:pathLst>
                <a:path h="1465714" w="13416736">
                  <a:moveTo>
                    <a:pt x="0" y="0"/>
                  </a:moveTo>
                  <a:lnTo>
                    <a:pt x="13416736" y="0"/>
                  </a:lnTo>
                  <a:lnTo>
                    <a:pt x="13416736" y="1465714"/>
                  </a:lnTo>
                  <a:lnTo>
                    <a:pt x="0" y="1465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759" r="-63568" b="-26972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3416736" cy="1465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577237" y="134516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1506" y="2738752"/>
            <a:ext cx="4632118" cy="4844823"/>
            <a:chOff x="0" y="0"/>
            <a:chExt cx="1219982" cy="12760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9982" cy="1276003"/>
            </a:xfrm>
            <a:custGeom>
              <a:avLst/>
              <a:gdLst/>
              <a:ahLst/>
              <a:cxnLst/>
              <a:rect r="r" b="b" t="t" l="l"/>
              <a:pathLst>
                <a:path h="1276003" w="1219982">
                  <a:moveTo>
                    <a:pt x="0" y="0"/>
                  </a:moveTo>
                  <a:lnTo>
                    <a:pt x="1219982" y="0"/>
                  </a:lnTo>
                  <a:lnTo>
                    <a:pt x="1219982" y="1276003"/>
                  </a:lnTo>
                  <a:lnTo>
                    <a:pt x="0" y="1276003"/>
                  </a:lnTo>
                  <a:close/>
                </a:path>
              </a:pathLst>
            </a:custGeom>
            <a:gradFill rotWithShape="true">
              <a:gsLst>
                <a:gs pos="0">
                  <a:srgbClr val="1A1054">
                    <a:alpha val="100000"/>
                  </a:srgbClr>
                </a:gs>
                <a:gs pos="100000">
                  <a:srgbClr val="255FF1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219982" cy="1295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736366" y="2738752"/>
            <a:ext cx="4632118" cy="4844823"/>
            <a:chOff x="0" y="0"/>
            <a:chExt cx="1219982" cy="12760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9982" cy="1276003"/>
            </a:xfrm>
            <a:custGeom>
              <a:avLst/>
              <a:gdLst/>
              <a:ahLst/>
              <a:cxnLst/>
              <a:rect r="r" b="b" t="t" l="l"/>
              <a:pathLst>
                <a:path h="1276003" w="1219982">
                  <a:moveTo>
                    <a:pt x="0" y="0"/>
                  </a:moveTo>
                  <a:lnTo>
                    <a:pt x="1219982" y="0"/>
                  </a:lnTo>
                  <a:lnTo>
                    <a:pt x="1219982" y="1276003"/>
                  </a:lnTo>
                  <a:lnTo>
                    <a:pt x="0" y="1276003"/>
                  </a:lnTo>
                  <a:close/>
                </a:path>
              </a:pathLst>
            </a:custGeom>
            <a:gradFill rotWithShape="true">
              <a:gsLst>
                <a:gs pos="0">
                  <a:srgbClr val="1A1054">
                    <a:alpha val="100000"/>
                  </a:srgbClr>
                </a:gs>
                <a:gs pos="100000">
                  <a:srgbClr val="255FF1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219982" cy="1295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61178" y="2778638"/>
            <a:ext cx="4632118" cy="4765051"/>
            <a:chOff x="0" y="0"/>
            <a:chExt cx="1219982" cy="12549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982" cy="1254993"/>
            </a:xfrm>
            <a:custGeom>
              <a:avLst/>
              <a:gdLst/>
              <a:ahLst/>
              <a:cxnLst/>
              <a:rect r="r" b="b" t="t" l="l"/>
              <a:pathLst>
                <a:path h="1254993" w="1219982">
                  <a:moveTo>
                    <a:pt x="0" y="0"/>
                  </a:moveTo>
                  <a:lnTo>
                    <a:pt x="1219982" y="0"/>
                  </a:lnTo>
                  <a:lnTo>
                    <a:pt x="1219982" y="1254993"/>
                  </a:lnTo>
                  <a:lnTo>
                    <a:pt x="0" y="1254993"/>
                  </a:lnTo>
                  <a:close/>
                </a:path>
              </a:pathLst>
            </a:custGeom>
            <a:gradFill rotWithShape="true">
              <a:gsLst>
                <a:gs pos="0">
                  <a:srgbClr val="1A1054">
                    <a:alpha val="100000"/>
                  </a:srgbClr>
                </a:gs>
                <a:gs pos="100000">
                  <a:srgbClr val="255FF1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219982" cy="1274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734044" y="2951831"/>
            <a:ext cx="3530580" cy="795336"/>
            <a:chOff x="0" y="0"/>
            <a:chExt cx="929865" cy="2094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9865" cy="209471"/>
            </a:xfrm>
            <a:custGeom>
              <a:avLst/>
              <a:gdLst/>
              <a:ahLst/>
              <a:cxnLst/>
              <a:rect r="r" b="b" t="t" l="l"/>
              <a:pathLst>
                <a:path h="209471" w="929865">
                  <a:moveTo>
                    <a:pt x="104736" y="0"/>
                  </a:moveTo>
                  <a:lnTo>
                    <a:pt x="825129" y="0"/>
                  </a:lnTo>
                  <a:cubicBezTo>
                    <a:pt x="882973" y="0"/>
                    <a:pt x="929865" y="46892"/>
                    <a:pt x="929865" y="104736"/>
                  </a:cubicBezTo>
                  <a:lnTo>
                    <a:pt x="929865" y="104736"/>
                  </a:lnTo>
                  <a:cubicBezTo>
                    <a:pt x="929865" y="162579"/>
                    <a:pt x="882973" y="209471"/>
                    <a:pt x="825129" y="209471"/>
                  </a:cubicBezTo>
                  <a:lnTo>
                    <a:pt x="104736" y="209471"/>
                  </a:lnTo>
                  <a:cubicBezTo>
                    <a:pt x="46892" y="209471"/>
                    <a:pt x="0" y="162579"/>
                    <a:pt x="0" y="104736"/>
                  </a:cubicBezTo>
                  <a:lnTo>
                    <a:pt x="0" y="104736"/>
                  </a:lnTo>
                  <a:cubicBezTo>
                    <a:pt x="0" y="46892"/>
                    <a:pt x="46892" y="0"/>
                    <a:pt x="104736" y="0"/>
                  </a:cubicBezTo>
                  <a:close/>
                </a:path>
              </a:pathLst>
            </a:custGeom>
            <a:gradFill rotWithShape="true">
              <a:gsLst>
                <a:gs pos="15000">
                  <a:srgbClr val="1EBDA5">
                    <a:alpha val="100000"/>
                  </a:srgbClr>
                </a:gs>
                <a:gs pos="50000">
                  <a:srgbClr val="E26A00">
                    <a:alpha val="100000"/>
                  </a:srgbClr>
                </a:gs>
                <a:gs pos="85000">
                  <a:srgbClr val="FFE046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29865" cy="228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10336" y="2929252"/>
            <a:ext cx="3530580" cy="840493"/>
            <a:chOff x="0" y="0"/>
            <a:chExt cx="929865" cy="2213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9865" cy="221365"/>
            </a:xfrm>
            <a:custGeom>
              <a:avLst/>
              <a:gdLst/>
              <a:ahLst/>
              <a:cxnLst/>
              <a:rect r="r" b="b" t="t" l="l"/>
              <a:pathLst>
                <a:path h="221365" w="929865">
                  <a:moveTo>
                    <a:pt x="110682" y="0"/>
                  </a:moveTo>
                  <a:lnTo>
                    <a:pt x="819182" y="0"/>
                  </a:lnTo>
                  <a:cubicBezTo>
                    <a:pt x="880311" y="0"/>
                    <a:pt x="929865" y="49554"/>
                    <a:pt x="929865" y="110682"/>
                  </a:cubicBezTo>
                  <a:lnTo>
                    <a:pt x="929865" y="110682"/>
                  </a:lnTo>
                  <a:cubicBezTo>
                    <a:pt x="929865" y="171810"/>
                    <a:pt x="880311" y="221365"/>
                    <a:pt x="819182" y="221365"/>
                  </a:cubicBezTo>
                  <a:lnTo>
                    <a:pt x="110682" y="221365"/>
                  </a:lnTo>
                  <a:cubicBezTo>
                    <a:pt x="49554" y="221365"/>
                    <a:pt x="0" y="171810"/>
                    <a:pt x="0" y="110682"/>
                  </a:cubicBezTo>
                  <a:lnTo>
                    <a:pt x="0" y="110682"/>
                  </a:lnTo>
                  <a:cubicBezTo>
                    <a:pt x="0" y="49554"/>
                    <a:pt x="49554" y="0"/>
                    <a:pt x="110682" y="0"/>
                  </a:cubicBezTo>
                  <a:close/>
                </a:path>
              </a:pathLst>
            </a:custGeom>
            <a:gradFill rotWithShape="true">
              <a:gsLst>
                <a:gs pos="15000">
                  <a:srgbClr val="1EBDA5">
                    <a:alpha val="100000"/>
                  </a:srgbClr>
                </a:gs>
                <a:gs pos="50000">
                  <a:srgbClr val="E26A00">
                    <a:alpha val="100000"/>
                  </a:srgbClr>
                </a:gs>
                <a:gs pos="85000">
                  <a:srgbClr val="FFE046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929865" cy="240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350135" y="2951831"/>
            <a:ext cx="3530580" cy="840493"/>
            <a:chOff x="0" y="0"/>
            <a:chExt cx="929865" cy="2213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9865" cy="221365"/>
            </a:xfrm>
            <a:custGeom>
              <a:avLst/>
              <a:gdLst/>
              <a:ahLst/>
              <a:cxnLst/>
              <a:rect r="r" b="b" t="t" l="l"/>
              <a:pathLst>
                <a:path h="221365" w="929865">
                  <a:moveTo>
                    <a:pt x="110682" y="0"/>
                  </a:moveTo>
                  <a:lnTo>
                    <a:pt x="819182" y="0"/>
                  </a:lnTo>
                  <a:cubicBezTo>
                    <a:pt x="880311" y="0"/>
                    <a:pt x="929865" y="49554"/>
                    <a:pt x="929865" y="110682"/>
                  </a:cubicBezTo>
                  <a:lnTo>
                    <a:pt x="929865" y="110682"/>
                  </a:lnTo>
                  <a:cubicBezTo>
                    <a:pt x="929865" y="171810"/>
                    <a:pt x="880311" y="221365"/>
                    <a:pt x="819182" y="221365"/>
                  </a:cubicBezTo>
                  <a:lnTo>
                    <a:pt x="110682" y="221365"/>
                  </a:lnTo>
                  <a:cubicBezTo>
                    <a:pt x="49554" y="221365"/>
                    <a:pt x="0" y="171810"/>
                    <a:pt x="0" y="110682"/>
                  </a:cubicBezTo>
                  <a:lnTo>
                    <a:pt x="0" y="110682"/>
                  </a:lnTo>
                  <a:cubicBezTo>
                    <a:pt x="0" y="49554"/>
                    <a:pt x="49554" y="0"/>
                    <a:pt x="110682" y="0"/>
                  </a:cubicBezTo>
                  <a:close/>
                </a:path>
              </a:pathLst>
            </a:custGeom>
            <a:gradFill rotWithShape="true">
              <a:gsLst>
                <a:gs pos="15000">
                  <a:srgbClr val="1EBDA5">
                    <a:alpha val="100000"/>
                  </a:srgbClr>
                </a:gs>
                <a:gs pos="50000">
                  <a:srgbClr val="E26A00">
                    <a:alpha val="100000"/>
                  </a:srgbClr>
                </a:gs>
                <a:gs pos="85000">
                  <a:srgbClr val="FFE046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929865" cy="240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1085" y="7936000"/>
            <a:ext cx="17934594" cy="1872369"/>
            <a:chOff x="0" y="0"/>
            <a:chExt cx="12148256" cy="12682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48256" cy="1268276"/>
            </a:xfrm>
            <a:custGeom>
              <a:avLst/>
              <a:gdLst/>
              <a:ahLst/>
              <a:cxnLst/>
              <a:rect r="r" b="b" t="t" l="l"/>
              <a:pathLst>
                <a:path h="1268276" w="12148256">
                  <a:moveTo>
                    <a:pt x="11878565" y="0"/>
                  </a:moveTo>
                  <a:lnTo>
                    <a:pt x="269691" y="0"/>
                  </a:lnTo>
                  <a:cubicBezTo>
                    <a:pt x="121483" y="0"/>
                    <a:pt x="0" y="23693"/>
                    <a:pt x="0" y="52704"/>
                  </a:cubicBezTo>
                  <a:lnTo>
                    <a:pt x="0" y="1215572"/>
                  </a:lnTo>
                  <a:cubicBezTo>
                    <a:pt x="0" y="1244584"/>
                    <a:pt x="121483" y="1268276"/>
                    <a:pt x="269691" y="1268276"/>
                  </a:cubicBezTo>
                  <a:lnTo>
                    <a:pt x="11878565" y="1268276"/>
                  </a:lnTo>
                  <a:cubicBezTo>
                    <a:pt x="12026774" y="1268276"/>
                    <a:pt x="12148256" y="1244584"/>
                    <a:pt x="12148256" y="1215572"/>
                  </a:cubicBezTo>
                  <a:lnTo>
                    <a:pt x="12148256" y="52704"/>
                  </a:lnTo>
                  <a:cubicBezTo>
                    <a:pt x="12148256" y="23693"/>
                    <a:pt x="12026774" y="0"/>
                    <a:pt x="1187856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117" r="0" b="-3117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484772" y="2062477"/>
            <a:ext cx="1677452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027" indent="-280514" lvl="1">
              <a:lnSpc>
                <a:spcPts val="372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Copperplate Gothic 29 BC"/>
                <a:ea typeface="Copperplate Gothic 29 BC"/>
                <a:cs typeface="Copperplate Gothic 29 BC"/>
                <a:sym typeface="Copperplate Gothic 29 BC"/>
              </a:rPr>
              <a:t>Bu</a:t>
            </a:r>
            <a:r>
              <a:rPr lang="en-US" sz="3100">
                <a:solidFill>
                  <a:srgbClr val="000000"/>
                </a:solidFill>
                <a:latin typeface="Copperplate Gothic 29 BC"/>
                <a:ea typeface="Copperplate Gothic 29 BC"/>
                <a:cs typeface="Copperplate Gothic 29 BC"/>
                <a:sym typeface="Copperplate Gothic 29 BC"/>
              </a:rPr>
              <a:t>ilt on existing, proven technologies with a modular Map + Data + Risk Engine + UI architecture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2711" y="2933256"/>
            <a:ext cx="3530580" cy="68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opperplate Gothic 29 BC Bold"/>
                <a:ea typeface="Copperplate Gothic 29 BC Bold"/>
                <a:cs typeface="Copperplate Gothic 29 BC Bold"/>
                <a:sym typeface="Copperplate Gothic 29 BC Bold"/>
              </a:rPr>
              <a:t>FEASIBILITY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639738" y="2948302"/>
            <a:ext cx="2989474" cy="68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opperplate Gothic 29 BC Bold"/>
                <a:ea typeface="Copperplate Gothic 29 BC Bold"/>
                <a:cs typeface="Copperplate Gothic 29 BC Bold"/>
                <a:sym typeface="Copperplate Gothic 29 BC Bold"/>
              </a:rPr>
              <a:t>CHALLENGES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11946" y="2974337"/>
            <a:ext cx="3530580" cy="647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Copperplate Gothic 29 BC Bold"/>
                <a:ea typeface="Copperplate Gothic 29 BC Bold"/>
                <a:cs typeface="Copperplate Gothic 29 BC Bold"/>
                <a:sym typeface="Copperplate Gothic 29 BC Bold"/>
              </a:rPr>
              <a:t>OUR APPROACH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4493" y="4091312"/>
            <a:ext cx="4504648" cy="2761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795" indent="-244898" lvl="1">
              <a:lnSpc>
                <a:spcPts val="3176"/>
              </a:lnSpc>
              <a:buFont typeface="Arial"/>
              <a:buChar char="•"/>
            </a:pPr>
            <a:r>
              <a:rPr lang="en-US" b="true" sz="2268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Existing Technologies: </a:t>
            </a:r>
          </a:p>
          <a:p>
            <a:pPr algn="l">
              <a:lnSpc>
                <a:spcPts val="3176"/>
              </a:lnSpc>
            </a:pPr>
            <a:r>
              <a:rPr lang="en-US" sz="2268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       Python, Pandas, Streamlit,                    </a:t>
            </a:r>
          </a:p>
          <a:p>
            <a:pPr algn="l">
              <a:lnSpc>
                <a:spcPts val="3176"/>
              </a:lnSpc>
            </a:pPr>
            <a:r>
              <a:rPr lang="en-US" sz="2268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       Mapping Liberies</a:t>
            </a:r>
          </a:p>
          <a:p>
            <a:pPr algn="l" marL="489795" indent="-244898" lvl="1">
              <a:lnSpc>
                <a:spcPts val="3176"/>
              </a:lnSpc>
              <a:buFont typeface="Arial"/>
              <a:buChar char="•"/>
            </a:pPr>
            <a:r>
              <a:rPr lang="en-US" b="true" sz="2268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Modular Architecture: </a:t>
            </a:r>
          </a:p>
          <a:p>
            <a:pPr algn="l">
              <a:lnSpc>
                <a:spcPts val="3176"/>
              </a:lnSpc>
            </a:pPr>
            <a:r>
              <a:rPr lang="en-US" sz="2268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      Map + Data + Risk Engine + UI</a:t>
            </a:r>
          </a:p>
          <a:p>
            <a:pPr algn="l" marL="489795" indent="-244898" lvl="1">
              <a:lnSpc>
                <a:spcPts val="3176"/>
              </a:lnSpc>
              <a:buFont typeface="Arial"/>
              <a:buChar char="•"/>
            </a:pPr>
            <a:r>
              <a:rPr lang="en-US" b="true" sz="2268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Prototype Ready Using some of the data sets are synthetic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73077" y="3947043"/>
            <a:ext cx="4493672" cy="305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7707" indent="-233854" lvl="1">
              <a:lnSpc>
                <a:spcPts val="3032"/>
              </a:lnSpc>
              <a:buFont typeface="Arial"/>
              <a:buChar char="•"/>
            </a:pPr>
            <a:r>
              <a:rPr lang="en-US" b="true" sz="2166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Complete OIL Operational data not publicly available in required format</a:t>
            </a:r>
          </a:p>
          <a:p>
            <a:pPr algn="l" marL="467707" indent="-233854" lvl="1">
              <a:lnSpc>
                <a:spcPts val="3032"/>
              </a:lnSpc>
              <a:buFont typeface="Arial"/>
              <a:buChar char="•"/>
            </a:pPr>
            <a:r>
              <a:rPr lang="en-US" b="true" sz="2166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Real-World Drilling data May contain missing/Inconsistent records </a:t>
            </a:r>
          </a:p>
          <a:p>
            <a:pPr algn="l" marL="467707" indent="-233854" lvl="1">
              <a:lnSpc>
                <a:spcPts val="3032"/>
              </a:lnSpc>
              <a:buFont typeface="Arial"/>
              <a:buChar char="•"/>
            </a:pPr>
            <a:r>
              <a:rPr lang="en-US" b="true" sz="2166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Prototype risk Scores require real world validation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83275" y="3823366"/>
            <a:ext cx="4632118" cy="351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96" indent="-237498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Synthetic Prototype Dataset Modeled Around PS requirements but wells dataset scraping from DrillerDB</a:t>
            </a:r>
          </a:p>
          <a:p>
            <a:pPr algn="l" marL="474996" indent="-237498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Data validation for IDs, depths, formations and events </a:t>
            </a:r>
          </a:p>
          <a:p>
            <a:pPr algn="l" marL="474996" indent="-237498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Human in the loop decision support,not autonomous drilling instructions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0" y="1380358"/>
            <a:ext cx="1677452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Copperplate Gothic 29 BC Bold"/>
                <a:ea typeface="Copperplate Gothic 29 BC Bold"/>
                <a:cs typeface="Copperplate Gothic 29 BC Bold"/>
                <a:sym typeface="Copperplate Gothic 29 BC Bold"/>
              </a:rPr>
              <a:t>prot</a:t>
            </a:r>
            <a:r>
              <a:rPr lang="en-US" sz="3599">
                <a:solidFill>
                  <a:srgbClr val="000000"/>
                </a:solidFill>
                <a:latin typeface="Copperplate Gothic 29 BC Bold"/>
                <a:ea typeface="Copperplate Gothic 29 BC Bold"/>
                <a:cs typeface="Copperplate Gothic 29 BC Bold"/>
                <a:sym typeface="Copperplate Gothic 29 BC Bold"/>
              </a:rPr>
              <a:t>otype-ready on synthetic + real-world data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562713" y="153566"/>
            <a:ext cx="1834852" cy="1327564"/>
            <a:chOff x="0" y="0"/>
            <a:chExt cx="3114500" cy="2253424"/>
          </a:xfrm>
        </p:grpSpPr>
        <p:sp>
          <p:nvSpPr>
            <p:cNvPr name="Freeform 41" id="41" descr="Your startup LOGO"/>
            <p:cNvSpPr/>
            <p:nvPr/>
          </p:nvSpPr>
          <p:spPr>
            <a:xfrm flipH="false" flipV="false" rot="0">
              <a:off x="0" y="0"/>
              <a:ext cx="3114454" cy="2253437"/>
            </a:xfrm>
            <a:custGeom>
              <a:avLst/>
              <a:gdLst/>
              <a:ahLst/>
              <a:cxnLst/>
              <a:rect r="r" b="b" t="t" l="l"/>
              <a:pathLst>
                <a:path h="2253437" w="3114454">
                  <a:moveTo>
                    <a:pt x="0" y="1126721"/>
                  </a:moveTo>
                  <a:cubicBezTo>
                    <a:pt x="0" y="504507"/>
                    <a:pt x="697245" y="0"/>
                    <a:pt x="1557227" y="0"/>
                  </a:cubicBezTo>
                  <a:cubicBezTo>
                    <a:pt x="2417209" y="0"/>
                    <a:pt x="3114454" y="504507"/>
                    <a:pt x="3114454" y="1126721"/>
                  </a:cubicBezTo>
                  <a:cubicBezTo>
                    <a:pt x="3114454" y="1748934"/>
                    <a:pt x="2417209" y="2253437"/>
                    <a:pt x="1557227" y="2253437"/>
                  </a:cubicBezTo>
                  <a:cubicBezTo>
                    <a:pt x="697245" y="2253437"/>
                    <a:pt x="0" y="1748934"/>
                    <a:pt x="0" y="1126721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114500" cy="2253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sz="3599">
                  <a:solidFill>
                    <a:srgbClr val="000000"/>
                  </a:solidFill>
                  <a:latin typeface="Gagalin"/>
                  <a:ea typeface="Gagalin"/>
                  <a:cs typeface="Gagalin"/>
                  <a:sym typeface="Gagalin"/>
                </a:rPr>
                <a:t>Sp</a:t>
              </a:r>
              <a:r>
                <a:rPr lang="en-US" sz="3599">
                  <a:solidFill>
                    <a:srgbClr val="000000"/>
                  </a:solidFill>
                  <a:latin typeface="Gagalin"/>
                  <a:ea typeface="Gagalin"/>
                  <a:cs typeface="Gagalin"/>
                  <a:sym typeface="Gagalin"/>
                </a:rPr>
                <a:t>aceX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58726" y="153566"/>
            <a:ext cx="1403986" cy="1403986"/>
          </a:xfrm>
          <a:custGeom>
            <a:avLst/>
            <a:gdLst/>
            <a:ahLst/>
            <a:cxnLst/>
            <a:rect r="r" b="b" t="t" l="l"/>
            <a:pathLst>
              <a:path h="1403986" w="1403986">
                <a:moveTo>
                  <a:pt x="0" y="0"/>
                </a:moveTo>
                <a:lnTo>
                  <a:pt x="1403987" y="0"/>
                </a:lnTo>
                <a:lnTo>
                  <a:pt x="1403987" y="1403987"/>
                </a:lnTo>
                <a:lnTo>
                  <a:pt x="0" y="1403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120312"/>
            <a:ext cx="18288000" cy="166688"/>
            <a:chOff x="0" y="0"/>
            <a:chExt cx="24384000" cy="222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22250"/>
            </a:xfrm>
            <a:custGeom>
              <a:avLst/>
              <a:gdLst/>
              <a:ahLst/>
              <a:cxnLst/>
              <a:rect r="r" b="b" t="t" l="l"/>
              <a:pathLst>
                <a:path h="222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2250"/>
                  </a:lnTo>
                  <a:lnTo>
                    <a:pt x="0" y="222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58122" y="47109"/>
            <a:ext cx="10371755" cy="1714500"/>
            <a:chOff x="0" y="0"/>
            <a:chExt cx="13829007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829007" cy="2286000"/>
            </a:xfrm>
            <a:custGeom>
              <a:avLst/>
              <a:gdLst/>
              <a:ahLst/>
              <a:cxnLst/>
              <a:rect r="r" b="b" t="t" l="l"/>
              <a:pathLst>
                <a:path h="2286000" w="13829007">
                  <a:moveTo>
                    <a:pt x="0" y="0"/>
                  </a:moveTo>
                  <a:lnTo>
                    <a:pt x="13829007" y="0"/>
                  </a:lnTo>
                  <a:lnTo>
                    <a:pt x="13829007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-58692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3829007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52708" y="3290073"/>
            <a:ext cx="2503276" cy="634254"/>
            <a:chOff x="0" y="0"/>
            <a:chExt cx="659299" cy="1670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9299" cy="167046"/>
            </a:xfrm>
            <a:custGeom>
              <a:avLst/>
              <a:gdLst/>
              <a:ahLst/>
              <a:cxnLst/>
              <a:rect r="r" b="b" t="t" l="l"/>
              <a:pathLst>
                <a:path h="167046" w="659299">
                  <a:moveTo>
                    <a:pt x="0" y="0"/>
                  </a:moveTo>
                  <a:lnTo>
                    <a:pt x="659299" y="0"/>
                  </a:lnTo>
                  <a:lnTo>
                    <a:pt x="659299" y="167046"/>
                  </a:lnTo>
                  <a:lnTo>
                    <a:pt x="0" y="1670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59299" cy="186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WHY IT MATTERS??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8848" y="4339900"/>
            <a:ext cx="1685355" cy="2152827"/>
            <a:chOff x="0" y="0"/>
            <a:chExt cx="443879" cy="56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3879" cy="567000"/>
            </a:xfrm>
            <a:custGeom>
              <a:avLst/>
              <a:gdLst/>
              <a:ahLst/>
              <a:cxnLst/>
              <a:rect r="r" b="b" t="t" l="l"/>
              <a:pathLst>
                <a:path h="567000" w="443879">
                  <a:moveTo>
                    <a:pt x="0" y="0"/>
                  </a:moveTo>
                  <a:lnTo>
                    <a:pt x="443879" y="0"/>
                  </a:lnTo>
                  <a:lnTo>
                    <a:pt x="443879" y="567000"/>
                  </a:lnTo>
                  <a:lnTo>
                    <a:pt x="0" y="567000"/>
                  </a:lnTo>
                  <a:close/>
                </a:path>
              </a:pathLst>
            </a:custGeom>
            <a:gradFill rotWithShape="true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43879" cy="586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405988" y="4272948"/>
            <a:ext cx="1604954" cy="2222978"/>
            <a:chOff x="0" y="0"/>
            <a:chExt cx="422704" cy="5854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2704" cy="585476"/>
            </a:xfrm>
            <a:custGeom>
              <a:avLst/>
              <a:gdLst/>
              <a:ahLst/>
              <a:cxnLst/>
              <a:rect r="r" b="b" t="t" l="l"/>
              <a:pathLst>
                <a:path h="585476" w="422704">
                  <a:moveTo>
                    <a:pt x="0" y="0"/>
                  </a:moveTo>
                  <a:lnTo>
                    <a:pt x="422704" y="0"/>
                  </a:lnTo>
                  <a:lnTo>
                    <a:pt x="422704" y="585476"/>
                  </a:lnTo>
                  <a:lnTo>
                    <a:pt x="0" y="585476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22704" cy="604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405988" y="6966426"/>
            <a:ext cx="1733905" cy="2285887"/>
            <a:chOff x="0" y="0"/>
            <a:chExt cx="456666" cy="6020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6666" cy="602044"/>
            </a:xfrm>
            <a:custGeom>
              <a:avLst/>
              <a:gdLst/>
              <a:ahLst/>
              <a:cxnLst/>
              <a:rect r="r" b="b" t="t" l="l"/>
              <a:pathLst>
                <a:path h="602044" w="456666">
                  <a:moveTo>
                    <a:pt x="0" y="0"/>
                  </a:moveTo>
                  <a:lnTo>
                    <a:pt x="456666" y="0"/>
                  </a:lnTo>
                  <a:lnTo>
                    <a:pt x="456666" y="602044"/>
                  </a:lnTo>
                  <a:lnTo>
                    <a:pt x="0" y="602044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56666" cy="621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08848" y="6966426"/>
            <a:ext cx="1685355" cy="2297861"/>
            <a:chOff x="0" y="0"/>
            <a:chExt cx="443879" cy="6051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3879" cy="605198"/>
            </a:xfrm>
            <a:custGeom>
              <a:avLst/>
              <a:gdLst/>
              <a:ahLst/>
              <a:cxnLst/>
              <a:rect r="r" b="b" t="t" l="l"/>
              <a:pathLst>
                <a:path h="605198" w="443879">
                  <a:moveTo>
                    <a:pt x="0" y="0"/>
                  </a:moveTo>
                  <a:lnTo>
                    <a:pt x="443879" y="0"/>
                  </a:lnTo>
                  <a:lnTo>
                    <a:pt x="443879" y="605198"/>
                  </a:lnTo>
                  <a:lnTo>
                    <a:pt x="0" y="605198"/>
                  </a:lnTo>
                  <a:close/>
                </a:path>
              </a:pathLst>
            </a:custGeom>
            <a:gradFill rotWithShape="true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43879" cy="624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868201" y="4237941"/>
            <a:ext cx="3976391" cy="930048"/>
            <a:chOff x="0" y="0"/>
            <a:chExt cx="1047280" cy="2449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7280" cy="244951"/>
            </a:xfrm>
            <a:custGeom>
              <a:avLst/>
              <a:gdLst/>
              <a:ahLst/>
              <a:cxnLst/>
              <a:rect r="r" b="b" t="t" l="l"/>
              <a:pathLst>
                <a:path h="244951" w="1047280">
                  <a:moveTo>
                    <a:pt x="33099" y="0"/>
                  </a:moveTo>
                  <a:lnTo>
                    <a:pt x="1014181" y="0"/>
                  </a:lnTo>
                  <a:cubicBezTo>
                    <a:pt x="1032461" y="0"/>
                    <a:pt x="1047280" y="14819"/>
                    <a:pt x="1047280" y="33099"/>
                  </a:cubicBezTo>
                  <a:lnTo>
                    <a:pt x="1047280" y="211852"/>
                  </a:lnTo>
                  <a:cubicBezTo>
                    <a:pt x="1047280" y="230132"/>
                    <a:pt x="1032461" y="244951"/>
                    <a:pt x="1014181" y="244951"/>
                  </a:cubicBezTo>
                  <a:lnTo>
                    <a:pt x="33099" y="244951"/>
                  </a:lnTo>
                  <a:cubicBezTo>
                    <a:pt x="14819" y="244951"/>
                    <a:pt x="0" y="230132"/>
                    <a:pt x="0" y="211852"/>
                  </a:cubicBezTo>
                  <a:lnTo>
                    <a:pt x="0" y="33099"/>
                  </a:lnTo>
                  <a:cubicBezTo>
                    <a:pt x="0" y="14819"/>
                    <a:pt x="14819" y="0"/>
                    <a:pt x="330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047280" cy="2640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820576" y="8269855"/>
            <a:ext cx="4091011" cy="941000"/>
            <a:chOff x="0" y="0"/>
            <a:chExt cx="1077468" cy="2478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7468" cy="247836"/>
            </a:xfrm>
            <a:custGeom>
              <a:avLst/>
              <a:gdLst/>
              <a:ahLst/>
              <a:cxnLst/>
              <a:rect r="r" b="b" t="t" l="l"/>
              <a:pathLst>
                <a:path h="247836" w="1077468">
                  <a:moveTo>
                    <a:pt x="32171" y="0"/>
                  </a:moveTo>
                  <a:lnTo>
                    <a:pt x="1045297" y="0"/>
                  </a:lnTo>
                  <a:cubicBezTo>
                    <a:pt x="1053829" y="0"/>
                    <a:pt x="1062012" y="3389"/>
                    <a:pt x="1068045" y="9423"/>
                  </a:cubicBezTo>
                  <a:cubicBezTo>
                    <a:pt x="1074079" y="15456"/>
                    <a:pt x="1077468" y="23639"/>
                    <a:pt x="1077468" y="32171"/>
                  </a:cubicBezTo>
                  <a:lnTo>
                    <a:pt x="1077468" y="215664"/>
                  </a:lnTo>
                  <a:cubicBezTo>
                    <a:pt x="1077468" y="224197"/>
                    <a:pt x="1074079" y="232380"/>
                    <a:pt x="1068045" y="238413"/>
                  </a:cubicBezTo>
                  <a:cubicBezTo>
                    <a:pt x="1062012" y="244446"/>
                    <a:pt x="1053829" y="247836"/>
                    <a:pt x="1045297" y="247836"/>
                  </a:cubicBezTo>
                  <a:lnTo>
                    <a:pt x="32171" y="247836"/>
                  </a:lnTo>
                  <a:cubicBezTo>
                    <a:pt x="23639" y="247836"/>
                    <a:pt x="15456" y="244446"/>
                    <a:pt x="9423" y="238413"/>
                  </a:cubicBezTo>
                  <a:cubicBezTo>
                    <a:pt x="3389" y="232380"/>
                    <a:pt x="0" y="224197"/>
                    <a:pt x="0" y="215664"/>
                  </a:cubicBezTo>
                  <a:lnTo>
                    <a:pt x="0" y="32171"/>
                  </a:lnTo>
                  <a:cubicBezTo>
                    <a:pt x="0" y="23639"/>
                    <a:pt x="3389" y="15456"/>
                    <a:pt x="9423" y="9423"/>
                  </a:cubicBezTo>
                  <a:cubicBezTo>
                    <a:pt x="15456" y="3389"/>
                    <a:pt x="23639" y="0"/>
                    <a:pt x="321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077468" cy="266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868201" y="6933435"/>
            <a:ext cx="4091011" cy="941000"/>
            <a:chOff x="0" y="0"/>
            <a:chExt cx="1077468" cy="2478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7468" cy="247836"/>
            </a:xfrm>
            <a:custGeom>
              <a:avLst/>
              <a:gdLst/>
              <a:ahLst/>
              <a:cxnLst/>
              <a:rect r="r" b="b" t="t" l="l"/>
              <a:pathLst>
                <a:path h="247836" w="1077468">
                  <a:moveTo>
                    <a:pt x="32171" y="0"/>
                  </a:moveTo>
                  <a:lnTo>
                    <a:pt x="1045297" y="0"/>
                  </a:lnTo>
                  <a:cubicBezTo>
                    <a:pt x="1053829" y="0"/>
                    <a:pt x="1062012" y="3389"/>
                    <a:pt x="1068045" y="9423"/>
                  </a:cubicBezTo>
                  <a:cubicBezTo>
                    <a:pt x="1074079" y="15456"/>
                    <a:pt x="1077468" y="23639"/>
                    <a:pt x="1077468" y="32171"/>
                  </a:cubicBezTo>
                  <a:lnTo>
                    <a:pt x="1077468" y="215664"/>
                  </a:lnTo>
                  <a:cubicBezTo>
                    <a:pt x="1077468" y="224197"/>
                    <a:pt x="1074079" y="232380"/>
                    <a:pt x="1068045" y="238413"/>
                  </a:cubicBezTo>
                  <a:cubicBezTo>
                    <a:pt x="1062012" y="244446"/>
                    <a:pt x="1053829" y="247836"/>
                    <a:pt x="1045297" y="247836"/>
                  </a:cubicBezTo>
                  <a:lnTo>
                    <a:pt x="32171" y="247836"/>
                  </a:lnTo>
                  <a:cubicBezTo>
                    <a:pt x="23639" y="247836"/>
                    <a:pt x="15456" y="244446"/>
                    <a:pt x="9423" y="238413"/>
                  </a:cubicBezTo>
                  <a:cubicBezTo>
                    <a:pt x="3389" y="232380"/>
                    <a:pt x="0" y="224197"/>
                    <a:pt x="0" y="215664"/>
                  </a:cubicBezTo>
                  <a:lnTo>
                    <a:pt x="0" y="32171"/>
                  </a:lnTo>
                  <a:cubicBezTo>
                    <a:pt x="0" y="23639"/>
                    <a:pt x="3389" y="15456"/>
                    <a:pt x="9423" y="9423"/>
                  </a:cubicBezTo>
                  <a:cubicBezTo>
                    <a:pt x="15456" y="3389"/>
                    <a:pt x="23639" y="0"/>
                    <a:pt x="321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077468" cy="266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868201" y="5494660"/>
            <a:ext cx="4091011" cy="941000"/>
            <a:chOff x="0" y="0"/>
            <a:chExt cx="1077468" cy="2478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7468" cy="247836"/>
            </a:xfrm>
            <a:custGeom>
              <a:avLst/>
              <a:gdLst/>
              <a:ahLst/>
              <a:cxnLst/>
              <a:rect r="r" b="b" t="t" l="l"/>
              <a:pathLst>
                <a:path h="247836" w="1077468">
                  <a:moveTo>
                    <a:pt x="32171" y="0"/>
                  </a:moveTo>
                  <a:lnTo>
                    <a:pt x="1045297" y="0"/>
                  </a:lnTo>
                  <a:cubicBezTo>
                    <a:pt x="1053829" y="0"/>
                    <a:pt x="1062012" y="3389"/>
                    <a:pt x="1068045" y="9423"/>
                  </a:cubicBezTo>
                  <a:cubicBezTo>
                    <a:pt x="1074079" y="15456"/>
                    <a:pt x="1077468" y="23639"/>
                    <a:pt x="1077468" y="32171"/>
                  </a:cubicBezTo>
                  <a:lnTo>
                    <a:pt x="1077468" y="215664"/>
                  </a:lnTo>
                  <a:cubicBezTo>
                    <a:pt x="1077468" y="224197"/>
                    <a:pt x="1074079" y="232380"/>
                    <a:pt x="1068045" y="238413"/>
                  </a:cubicBezTo>
                  <a:cubicBezTo>
                    <a:pt x="1062012" y="244446"/>
                    <a:pt x="1053829" y="247836"/>
                    <a:pt x="1045297" y="247836"/>
                  </a:cubicBezTo>
                  <a:lnTo>
                    <a:pt x="32171" y="247836"/>
                  </a:lnTo>
                  <a:cubicBezTo>
                    <a:pt x="23639" y="247836"/>
                    <a:pt x="15456" y="244446"/>
                    <a:pt x="9423" y="238413"/>
                  </a:cubicBezTo>
                  <a:cubicBezTo>
                    <a:pt x="3389" y="232380"/>
                    <a:pt x="0" y="224197"/>
                    <a:pt x="0" y="215664"/>
                  </a:cubicBezTo>
                  <a:lnTo>
                    <a:pt x="0" y="32171"/>
                  </a:lnTo>
                  <a:cubicBezTo>
                    <a:pt x="0" y="23639"/>
                    <a:pt x="3389" y="15456"/>
                    <a:pt x="9423" y="9423"/>
                  </a:cubicBezTo>
                  <a:cubicBezTo>
                    <a:pt x="15456" y="3389"/>
                    <a:pt x="23639" y="0"/>
                    <a:pt x="321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077468" cy="266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756024" y="3203638"/>
            <a:ext cx="2503276" cy="634254"/>
            <a:chOff x="0" y="0"/>
            <a:chExt cx="659299" cy="16704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9299" cy="167046"/>
            </a:xfrm>
            <a:custGeom>
              <a:avLst/>
              <a:gdLst/>
              <a:ahLst/>
              <a:cxnLst/>
              <a:rect r="r" b="b" t="t" l="l"/>
              <a:pathLst>
                <a:path h="167046" w="659299">
                  <a:moveTo>
                    <a:pt x="0" y="0"/>
                  </a:moveTo>
                  <a:lnTo>
                    <a:pt x="659299" y="0"/>
                  </a:lnTo>
                  <a:lnTo>
                    <a:pt x="659299" y="167046"/>
                  </a:lnTo>
                  <a:lnTo>
                    <a:pt x="0" y="1670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59299" cy="186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EXPECTED IMPACT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815150" y="148317"/>
            <a:ext cx="1640834" cy="1352676"/>
            <a:chOff x="0" y="0"/>
            <a:chExt cx="2554516" cy="2105900"/>
          </a:xfrm>
        </p:grpSpPr>
        <p:sp>
          <p:nvSpPr>
            <p:cNvPr name="Freeform 43" id="43" descr="Your startup LOGO"/>
            <p:cNvSpPr/>
            <p:nvPr/>
          </p:nvSpPr>
          <p:spPr>
            <a:xfrm flipH="false" flipV="false" rot="0">
              <a:off x="0" y="0"/>
              <a:ext cx="2554478" cy="2105912"/>
            </a:xfrm>
            <a:custGeom>
              <a:avLst/>
              <a:gdLst/>
              <a:ahLst/>
              <a:cxnLst/>
              <a:rect r="r" b="b" t="t" l="l"/>
              <a:pathLst>
                <a:path h="2105912" w="2554478">
                  <a:moveTo>
                    <a:pt x="0" y="1052958"/>
                  </a:moveTo>
                  <a:cubicBezTo>
                    <a:pt x="0" y="471478"/>
                    <a:pt x="571881" y="0"/>
                    <a:pt x="1277239" y="0"/>
                  </a:cubicBezTo>
                  <a:cubicBezTo>
                    <a:pt x="1982597" y="0"/>
                    <a:pt x="2554478" y="471478"/>
                    <a:pt x="2554478" y="1052958"/>
                  </a:cubicBezTo>
                  <a:cubicBezTo>
                    <a:pt x="2554478" y="1634437"/>
                    <a:pt x="1982597" y="2105912"/>
                    <a:pt x="1277239" y="2105912"/>
                  </a:cubicBezTo>
                  <a:cubicBezTo>
                    <a:pt x="571881" y="2105912"/>
                    <a:pt x="0" y="1634437"/>
                    <a:pt x="0" y="1052958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554516" cy="210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sz="3599">
                  <a:solidFill>
                    <a:srgbClr val="000000"/>
                  </a:solidFill>
                  <a:latin typeface="Gagalin"/>
                  <a:ea typeface="Gagalin"/>
                  <a:cs typeface="Gagalin"/>
                  <a:sym typeface="Gagalin"/>
                </a:rPr>
                <a:t>Sp</a:t>
              </a:r>
              <a:r>
                <a:rPr lang="en-US" sz="3599">
                  <a:solidFill>
                    <a:srgbClr val="000000"/>
                  </a:solidFill>
                  <a:latin typeface="Gagalin"/>
                  <a:ea typeface="Gagalin"/>
                  <a:cs typeface="Gagalin"/>
                  <a:sym typeface="Gagalin"/>
                </a:rPr>
                <a:t>aceX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250715" y="191766"/>
            <a:ext cx="1403986" cy="1403986"/>
          </a:xfrm>
          <a:custGeom>
            <a:avLst/>
            <a:gdLst/>
            <a:ahLst/>
            <a:cxnLst/>
            <a:rect r="r" b="b" t="t" l="l"/>
            <a:pathLst>
              <a:path h="1403986" w="1403986">
                <a:moveTo>
                  <a:pt x="0" y="0"/>
                </a:moveTo>
                <a:lnTo>
                  <a:pt x="1403986" y="0"/>
                </a:lnTo>
                <a:lnTo>
                  <a:pt x="1403986" y="1403986"/>
                </a:lnTo>
                <a:lnTo>
                  <a:pt x="0" y="14039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4514874" y="4091313"/>
            <a:ext cx="2722150" cy="2404614"/>
            <a:chOff x="0" y="0"/>
            <a:chExt cx="716945" cy="63331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16945" cy="633314"/>
            </a:xfrm>
            <a:custGeom>
              <a:avLst/>
              <a:gdLst/>
              <a:ahLst/>
              <a:cxnLst/>
              <a:rect r="r" b="b" t="t" l="l"/>
              <a:pathLst>
                <a:path h="633314" w="716945">
                  <a:moveTo>
                    <a:pt x="71101" y="0"/>
                  </a:moveTo>
                  <a:lnTo>
                    <a:pt x="645844" y="0"/>
                  </a:lnTo>
                  <a:cubicBezTo>
                    <a:pt x="664701" y="0"/>
                    <a:pt x="682786" y="7491"/>
                    <a:pt x="696120" y="20825"/>
                  </a:cubicBezTo>
                  <a:cubicBezTo>
                    <a:pt x="709454" y="34159"/>
                    <a:pt x="716945" y="52244"/>
                    <a:pt x="716945" y="71101"/>
                  </a:cubicBezTo>
                  <a:lnTo>
                    <a:pt x="716945" y="562213"/>
                  </a:lnTo>
                  <a:cubicBezTo>
                    <a:pt x="716945" y="581070"/>
                    <a:pt x="709454" y="599155"/>
                    <a:pt x="696120" y="612489"/>
                  </a:cubicBezTo>
                  <a:cubicBezTo>
                    <a:pt x="682786" y="625823"/>
                    <a:pt x="664701" y="633314"/>
                    <a:pt x="645844" y="633314"/>
                  </a:cubicBezTo>
                  <a:lnTo>
                    <a:pt x="71101" y="633314"/>
                  </a:lnTo>
                  <a:cubicBezTo>
                    <a:pt x="52244" y="633314"/>
                    <a:pt x="34159" y="625823"/>
                    <a:pt x="20825" y="612489"/>
                  </a:cubicBezTo>
                  <a:cubicBezTo>
                    <a:pt x="7491" y="599155"/>
                    <a:pt x="0" y="581070"/>
                    <a:pt x="0" y="562213"/>
                  </a:cubicBezTo>
                  <a:lnTo>
                    <a:pt x="0" y="71101"/>
                  </a:lnTo>
                  <a:cubicBezTo>
                    <a:pt x="0" y="52244"/>
                    <a:pt x="7491" y="34159"/>
                    <a:pt x="20825" y="20825"/>
                  </a:cubicBezTo>
                  <a:cubicBezTo>
                    <a:pt x="34159" y="7491"/>
                    <a:pt x="52244" y="0"/>
                    <a:pt x="71101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716945" cy="652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657133" y="4091313"/>
            <a:ext cx="2722150" cy="2404614"/>
            <a:chOff x="0" y="0"/>
            <a:chExt cx="716945" cy="63331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16945" cy="633314"/>
            </a:xfrm>
            <a:custGeom>
              <a:avLst/>
              <a:gdLst/>
              <a:ahLst/>
              <a:cxnLst/>
              <a:rect r="r" b="b" t="t" l="l"/>
              <a:pathLst>
                <a:path h="633314" w="716945">
                  <a:moveTo>
                    <a:pt x="71101" y="0"/>
                  </a:moveTo>
                  <a:lnTo>
                    <a:pt x="645844" y="0"/>
                  </a:lnTo>
                  <a:cubicBezTo>
                    <a:pt x="664701" y="0"/>
                    <a:pt x="682786" y="7491"/>
                    <a:pt x="696120" y="20825"/>
                  </a:cubicBezTo>
                  <a:cubicBezTo>
                    <a:pt x="709454" y="34159"/>
                    <a:pt x="716945" y="52244"/>
                    <a:pt x="716945" y="71101"/>
                  </a:cubicBezTo>
                  <a:lnTo>
                    <a:pt x="716945" y="562213"/>
                  </a:lnTo>
                  <a:cubicBezTo>
                    <a:pt x="716945" y="581070"/>
                    <a:pt x="709454" y="599155"/>
                    <a:pt x="696120" y="612489"/>
                  </a:cubicBezTo>
                  <a:cubicBezTo>
                    <a:pt x="682786" y="625823"/>
                    <a:pt x="664701" y="633314"/>
                    <a:pt x="645844" y="633314"/>
                  </a:cubicBezTo>
                  <a:lnTo>
                    <a:pt x="71101" y="633314"/>
                  </a:lnTo>
                  <a:cubicBezTo>
                    <a:pt x="52244" y="633314"/>
                    <a:pt x="34159" y="625823"/>
                    <a:pt x="20825" y="612489"/>
                  </a:cubicBezTo>
                  <a:cubicBezTo>
                    <a:pt x="7491" y="599155"/>
                    <a:pt x="0" y="581070"/>
                    <a:pt x="0" y="562213"/>
                  </a:cubicBezTo>
                  <a:lnTo>
                    <a:pt x="0" y="71101"/>
                  </a:lnTo>
                  <a:cubicBezTo>
                    <a:pt x="0" y="52244"/>
                    <a:pt x="7491" y="34159"/>
                    <a:pt x="20825" y="20825"/>
                  </a:cubicBezTo>
                  <a:cubicBezTo>
                    <a:pt x="34159" y="7491"/>
                    <a:pt x="52244" y="0"/>
                    <a:pt x="71101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716945" cy="652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736476" y="4091313"/>
            <a:ext cx="2722150" cy="2468076"/>
            <a:chOff x="0" y="0"/>
            <a:chExt cx="716945" cy="6500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16945" cy="650028"/>
            </a:xfrm>
            <a:custGeom>
              <a:avLst/>
              <a:gdLst/>
              <a:ahLst/>
              <a:cxnLst/>
              <a:rect r="r" b="b" t="t" l="l"/>
              <a:pathLst>
                <a:path h="650028" w="716945">
                  <a:moveTo>
                    <a:pt x="71101" y="0"/>
                  </a:moveTo>
                  <a:lnTo>
                    <a:pt x="645844" y="0"/>
                  </a:lnTo>
                  <a:cubicBezTo>
                    <a:pt x="664701" y="0"/>
                    <a:pt x="682786" y="7491"/>
                    <a:pt x="696120" y="20825"/>
                  </a:cubicBezTo>
                  <a:cubicBezTo>
                    <a:pt x="709454" y="34159"/>
                    <a:pt x="716945" y="52244"/>
                    <a:pt x="716945" y="71101"/>
                  </a:cubicBezTo>
                  <a:lnTo>
                    <a:pt x="716945" y="578927"/>
                  </a:lnTo>
                  <a:cubicBezTo>
                    <a:pt x="716945" y="597784"/>
                    <a:pt x="709454" y="615869"/>
                    <a:pt x="696120" y="629203"/>
                  </a:cubicBezTo>
                  <a:cubicBezTo>
                    <a:pt x="682786" y="642537"/>
                    <a:pt x="664701" y="650028"/>
                    <a:pt x="645844" y="650028"/>
                  </a:cubicBezTo>
                  <a:lnTo>
                    <a:pt x="71101" y="650028"/>
                  </a:lnTo>
                  <a:cubicBezTo>
                    <a:pt x="52244" y="650028"/>
                    <a:pt x="34159" y="642537"/>
                    <a:pt x="20825" y="629203"/>
                  </a:cubicBezTo>
                  <a:cubicBezTo>
                    <a:pt x="7491" y="615869"/>
                    <a:pt x="0" y="597784"/>
                    <a:pt x="0" y="578927"/>
                  </a:cubicBezTo>
                  <a:lnTo>
                    <a:pt x="0" y="71101"/>
                  </a:lnTo>
                  <a:cubicBezTo>
                    <a:pt x="0" y="52244"/>
                    <a:pt x="7491" y="34159"/>
                    <a:pt x="20825" y="20825"/>
                  </a:cubicBezTo>
                  <a:cubicBezTo>
                    <a:pt x="34159" y="7491"/>
                    <a:pt x="52244" y="0"/>
                    <a:pt x="71101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716945" cy="669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587567" y="6791201"/>
            <a:ext cx="2722150" cy="2614178"/>
            <a:chOff x="0" y="0"/>
            <a:chExt cx="716945" cy="6885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16945" cy="688508"/>
            </a:xfrm>
            <a:custGeom>
              <a:avLst/>
              <a:gdLst/>
              <a:ahLst/>
              <a:cxnLst/>
              <a:rect r="r" b="b" t="t" l="l"/>
              <a:pathLst>
                <a:path h="688508" w="716945">
                  <a:moveTo>
                    <a:pt x="71101" y="0"/>
                  </a:moveTo>
                  <a:lnTo>
                    <a:pt x="645844" y="0"/>
                  </a:lnTo>
                  <a:cubicBezTo>
                    <a:pt x="664701" y="0"/>
                    <a:pt x="682786" y="7491"/>
                    <a:pt x="696120" y="20825"/>
                  </a:cubicBezTo>
                  <a:cubicBezTo>
                    <a:pt x="709454" y="34159"/>
                    <a:pt x="716945" y="52244"/>
                    <a:pt x="716945" y="71101"/>
                  </a:cubicBezTo>
                  <a:lnTo>
                    <a:pt x="716945" y="617407"/>
                  </a:lnTo>
                  <a:cubicBezTo>
                    <a:pt x="716945" y="636264"/>
                    <a:pt x="709454" y="654349"/>
                    <a:pt x="696120" y="667683"/>
                  </a:cubicBezTo>
                  <a:cubicBezTo>
                    <a:pt x="682786" y="681017"/>
                    <a:pt x="664701" y="688508"/>
                    <a:pt x="645844" y="688508"/>
                  </a:cubicBezTo>
                  <a:lnTo>
                    <a:pt x="71101" y="688508"/>
                  </a:lnTo>
                  <a:cubicBezTo>
                    <a:pt x="52244" y="688508"/>
                    <a:pt x="34159" y="681017"/>
                    <a:pt x="20825" y="667683"/>
                  </a:cubicBezTo>
                  <a:cubicBezTo>
                    <a:pt x="7491" y="654349"/>
                    <a:pt x="0" y="636264"/>
                    <a:pt x="0" y="617407"/>
                  </a:cubicBezTo>
                  <a:lnTo>
                    <a:pt x="0" y="71101"/>
                  </a:lnTo>
                  <a:cubicBezTo>
                    <a:pt x="0" y="52244"/>
                    <a:pt x="7491" y="34159"/>
                    <a:pt x="20825" y="20825"/>
                  </a:cubicBezTo>
                  <a:cubicBezTo>
                    <a:pt x="34159" y="7491"/>
                    <a:pt x="52244" y="0"/>
                    <a:pt x="71101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716945" cy="707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657133" y="6791201"/>
            <a:ext cx="2722150" cy="2614178"/>
            <a:chOff x="0" y="0"/>
            <a:chExt cx="716945" cy="68850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16945" cy="688508"/>
            </a:xfrm>
            <a:custGeom>
              <a:avLst/>
              <a:gdLst/>
              <a:ahLst/>
              <a:cxnLst/>
              <a:rect r="r" b="b" t="t" l="l"/>
              <a:pathLst>
                <a:path h="688508" w="716945">
                  <a:moveTo>
                    <a:pt x="71101" y="0"/>
                  </a:moveTo>
                  <a:lnTo>
                    <a:pt x="645844" y="0"/>
                  </a:lnTo>
                  <a:cubicBezTo>
                    <a:pt x="664701" y="0"/>
                    <a:pt x="682786" y="7491"/>
                    <a:pt x="696120" y="20825"/>
                  </a:cubicBezTo>
                  <a:cubicBezTo>
                    <a:pt x="709454" y="34159"/>
                    <a:pt x="716945" y="52244"/>
                    <a:pt x="716945" y="71101"/>
                  </a:cubicBezTo>
                  <a:lnTo>
                    <a:pt x="716945" y="617407"/>
                  </a:lnTo>
                  <a:cubicBezTo>
                    <a:pt x="716945" y="636264"/>
                    <a:pt x="709454" y="654349"/>
                    <a:pt x="696120" y="667683"/>
                  </a:cubicBezTo>
                  <a:cubicBezTo>
                    <a:pt x="682786" y="681017"/>
                    <a:pt x="664701" y="688508"/>
                    <a:pt x="645844" y="688508"/>
                  </a:cubicBezTo>
                  <a:lnTo>
                    <a:pt x="71101" y="688508"/>
                  </a:lnTo>
                  <a:cubicBezTo>
                    <a:pt x="52244" y="688508"/>
                    <a:pt x="34159" y="681017"/>
                    <a:pt x="20825" y="667683"/>
                  </a:cubicBezTo>
                  <a:cubicBezTo>
                    <a:pt x="7491" y="654349"/>
                    <a:pt x="0" y="636264"/>
                    <a:pt x="0" y="617407"/>
                  </a:cubicBezTo>
                  <a:lnTo>
                    <a:pt x="0" y="71101"/>
                  </a:lnTo>
                  <a:cubicBezTo>
                    <a:pt x="0" y="52244"/>
                    <a:pt x="7491" y="34159"/>
                    <a:pt x="20825" y="20825"/>
                  </a:cubicBezTo>
                  <a:cubicBezTo>
                    <a:pt x="34159" y="7491"/>
                    <a:pt x="52244" y="0"/>
                    <a:pt x="71101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716945" cy="707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736476" y="6791201"/>
            <a:ext cx="2722150" cy="2614178"/>
            <a:chOff x="0" y="0"/>
            <a:chExt cx="716945" cy="68850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16945" cy="688508"/>
            </a:xfrm>
            <a:custGeom>
              <a:avLst/>
              <a:gdLst/>
              <a:ahLst/>
              <a:cxnLst/>
              <a:rect r="r" b="b" t="t" l="l"/>
              <a:pathLst>
                <a:path h="688508" w="716945">
                  <a:moveTo>
                    <a:pt x="71101" y="0"/>
                  </a:moveTo>
                  <a:lnTo>
                    <a:pt x="645844" y="0"/>
                  </a:lnTo>
                  <a:cubicBezTo>
                    <a:pt x="664701" y="0"/>
                    <a:pt x="682786" y="7491"/>
                    <a:pt x="696120" y="20825"/>
                  </a:cubicBezTo>
                  <a:cubicBezTo>
                    <a:pt x="709454" y="34159"/>
                    <a:pt x="716945" y="52244"/>
                    <a:pt x="716945" y="71101"/>
                  </a:cubicBezTo>
                  <a:lnTo>
                    <a:pt x="716945" y="617407"/>
                  </a:lnTo>
                  <a:cubicBezTo>
                    <a:pt x="716945" y="636264"/>
                    <a:pt x="709454" y="654349"/>
                    <a:pt x="696120" y="667683"/>
                  </a:cubicBezTo>
                  <a:cubicBezTo>
                    <a:pt x="682786" y="681017"/>
                    <a:pt x="664701" y="688508"/>
                    <a:pt x="645844" y="688508"/>
                  </a:cubicBezTo>
                  <a:lnTo>
                    <a:pt x="71101" y="688508"/>
                  </a:lnTo>
                  <a:cubicBezTo>
                    <a:pt x="52244" y="688508"/>
                    <a:pt x="34159" y="681017"/>
                    <a:pt x="20825" y="667683"/>
                  </a:cubicBezTo>
                  <a:cubicBezTo>
                    <a:pt x="7491" y="654349"/>
                    <a:pt x="0" y="636264"/>
                    <a:pt x="0" y="617407"/>
                  </a:cubicBezTo>
                  <a:lnTo>
                    <a:pt x="0" y="71101"/>
                  </a:lnTo>
                  <a:cubicBezTo>
                    <a:pt x="0" y="52244"/>
                    <a:pt x="7491" y="34159"/>
                    <a:pt x="20825" y="20825"/>
                  </a:cubicBezTo>
                  <a:cubicBezTo>
                    <a:pt x="34159" y="7491"/>
                    <a:pt x="52244" y="0"/>
                    <a:pt x="71101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716945" cy="707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641208" y="4349585"/>
            <a:ext cx="687347" cy="706760"/>
            <a:chOff x="0" y="0"/>
            <a:chExt cx="812800" cy="83575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35757"/>
            </a:xfrm>
            <a:custGeom>
              <a:avLst/>
              <a:gdLst/>
              <a:ahLst/>
              <a:cxnLst/>
              <a:rect r="r" b="b" t="t" l="l"/>
              <a:pathLst>
                <a:path h="835757" w="812800">
                  <a:moveTo>
                    <a:pt x="406400" y="0"/>
                  </a:moveTo>
                  <a:cubicBezTo>
                    <a:pt x="181951" y="0"/>
                    <a:pt x="0" y="187091"/>
                    <a:pt x="0" y="417878"/>
                  </a:cubicBezTo>
                  <a:cubicBezTo>
                    <a:pt x="0" y="648666"/>
                    <a:pt x="181951" y="835757"/>
                    <a:pt x="406400" y="835757"/>
                  </a:cubicBezTo>
                  <a:cubicBezTo>
                    <a:pt x="630849" y="835757"/>
                    <a:pt x="812800" y="648666"/>
                    <a:pt x="812800" y="417878"/>
                  </a:cubicBezTo>
                  <a:cubicBezTo>
                    <a:pt x="812800" y="18709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48F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76200" y="21202"/>
              <a:ext cx="660400" cy="736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1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939712" y="6977120"/>
            <a:ext cx="687347" cy="711069"/>
            <a:chOff x="0" y="0"/>
            <a:chExt cx="812800" cy="8408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40852"/>
            </a:xfrm>
            <a:custGeom>
              <a:avLst/>
              <a:gdLst/>
              <a:ahLst/>
              <a:cxnLst/>
              <a:rect r="r" b="b" t="t" l="l"/>
              <a:pathLst>
                <a:path h="840852" w="812800">
                  <a:moveTo>
                    <a:pt x="406400" y="0"/>
                  </a:moveTo>
                  <a:cubicBezTo>
                    <a:pt x="181951" y="0"/>
                    <a:pt x="0" y="188231"/>
                    <a:pt x="0" y="420426"/>
                  </a:cubicBezTo>
                  <a:cubicBezTo>
                    <a:pt x="0" y="652621"/>
                    <a:pt x="181951" y="840852"/>
                    <a:pt x="406400" y="840852"/>
                  </a:cubicBezTo>
                  <a:cubicBezTo>
                    <a:pt x="630849" y="840852"/>
                    <a:pt x="812800" y="652621"/>
                    <a:pt x="812800" y="420426"/>
                  </a:cubicBezTo>
                  <a:cubicBezTo>
                    <a:pt x="812800" y="18823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48F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76200" y="69305"/>
              <a:ext cx="660400" cy="692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814543" y="6966426"/>
            <a:ext cx="678085" cy="692943"/>
            <a:chOff x="0" y="0"/>
            <a:chExt cx="812800" cy="83060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30609"/>
            </a:xfrm>
            <a:custGeom>
              <a:avLst/>
              <a:gdLst/>
              <a:ahLst/>
              <a:cxnLst/>
              <a:rect r="r" b="b" t="t" l="l"/>
              <a:pathLst>
                <a:path h="830609" w="812800">
                  <a:moveTo>
                    <a:pt x="406400" y="0"/>
                  </a:moveTo>
                  <a:cubicBezTo>
                    <a:pt x="181951" y="0"/>
                    <a:pt x="0" y="185938"/>
                    <a:pt x="0" y="415305"/>
                  </a:cubicBezTo>
                  <a:cubicBezTo>
                    <a:pt x="0" y="644671"/>
                    <a:pt x="181951" y="830609"/>
                    <a:pt x="406400" y="830609"/>
                  </a:cubicBezTo>
                  <a:cubicBezTo>
                    <a:pt x="630849" y="830609"/>
                    <a:pt x="812800" y="644671"/>
                    <a:pt x="812800" y="415305"/>
                  </a:cubicBezTo>
                  <a:cubicBezTo>
                    <a:pt x="812800" y="18593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48F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76200" y="68345"/>
              <a:ext cx="660400" cy="684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3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798384" y="4272948"/>
            <a:ext cx="687347" cy="711069"/>
            <a:chOff x="0" y="0"/>
            <a:chExt cx="812800" cy="8408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840852"/>
            </a:xfrm>
            <a:custGeom>
              <a:avLst/>
              <a:gdLst/>
              <a:ahLst/>
              <a:cxnLst/>
              <a:rect r="r" b="b" t="t" l="l"/>
              <a:pathLst>
                <a:path h="840852" w="812800">
                  <a:moveTo>
                    <a:pt x="406400" y="0"/>
                  </a:moveTo>
                  <a:cubicBezTo>
                    <a:pt x="181951" y="0"/>
                    <a:pt x="0" y="188231"/>
                    <a:pt x="0" y="420426"/>
                  </a:cubicBezTo>
                  <a:cubicBezTo>
                    <a:pt x="0" y="652621"/>
                    <a:pt x="181951" y="840852"/>
                    <a:pt x="406400" y="840852"/>
                  </a:cubicBezTo>
                  <a:cubicBezTo>
                    <a:pt x="630849" y="840852"/>
                    <a:pt x="812800" y="652621"/>
                    <a:pt x="812800" y="420426"/>
                  </a:cubicBezTo>
                  <a:cubicBezTo>
                    <a:pt x="812800" y="18823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48F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76200" y="69305"/>
              <a:ext cx="660400" cy="692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767181" y="4324335"/>
            <a:ext cx="687347" cy="687347"/>
            <a:chOff x="0" y="0"/>
            <a:chExt cx="812800" cy="8128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48F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2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4683787" y="7033476"/>
            <a:ext cx="687347" cy="740919"/>
            <a:chOff x="0" y="0"/>
            <a:chExt cx="812800" cy="87615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12800" cy="876150"/>
            </a:xfrm>
            <a:custGeom>
              <a:avLst/>
              <a:gdLst/>
              <a:ahLst/>
              <a:cxnLst/>
              <a:rect r="r" b="b" t="t" l="l"/>
              <a:pathLst>
                <a:path h="876150" w="812800">
                  <a:moveTo>
                    <a:pt x="406400" y="0"/>
                  </a:moveTo>
                  <a:cubicBezTo>
                    <a:pt x="181951" y="0"/>
                    <a:pt x="0" y="196133"/>
                    <a:pt x="0" y="438075"/>
                  </a:cubicBezTo>
                  <a:cubicBezTo>
                    <a:pt x="0" y="680017"/>
                    <a:pt x="181951" y="876150"/>
                    <a:pt x="406400" y="876150"/>
                  </a:cubicBezTo>
                  <a:cubicBezTo>
                    <a:pt x="630849" y="876150"/>
                    <a:pt x="812800" y="680017"/>
                    <a:pt x="812800" y="438075"/>
                  </a:cubicBezTo>
                  <a:cubicBezTo>
                    <a:pt x="812800" y="196133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48F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76200" y="63089"/>
              <a:ext cx="660400" cy="730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  <a:r>
                <a:rPr lang="en-US" b="true" sz="2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154246" y="1732457"/>
            <a:ext cx="17727924" cy="85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5576" indent="-257788" lvl="1">
              <a:lnSpc>
                <a:spcPts val="3418"/>
              </a:lnSpc>
              <a:buFont typeface="Arial"/>
              <a:buChar char="•"/>
            </a:pPr>
            <a:r>
              <a:rPr lang="en-US" sz="2848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Tur</a:t>
            </a:r>
            <a:r>
              <a:rPr lang="en-US" sz="2848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ns historical drilling knowledge into actionable, evidence-based intelligence for the drilling team, operations and environmental safety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380707" y="5255519"/>
            <a:ext cx="1541636" cy="35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2"/>
              </a:lnSpc>
            </a:pPr>
            <a:r>
              <a:rPr lang="en-US" b="true" sz="2122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AWARENESS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522065" y="7792420"/>
            <a:ext cx="1501750" cy="594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8"/>
              </a:lnSpc>
            </a:pPr>
            <a:r>
              <a:rPr lang="en-US" sz="1720" b="true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OPER</a:t>
            </a:r>
            <a:r>
              <a:rPr lang="en-US" b="true" sz="172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ATIONAL </a:t>
            </a:r>
          </a:p>
          <a:p>
            <a:pPr algn="ctr">
              <a:lnSpc>
                <a:spcPts val="2408"/>
              </a:lnSpc>
            </a:pPr>
            <a:r>
              <a:rPr lang="en-US" b="true" sz="172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EFFICIENCY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536788" y="7738531"/>
            <a:ext cx="1130796" cy="61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2"/>
              </a:lnSpc>
            </a:pPr>
            <a:r>
              <a:rPr lang="en-US" sz="1809" b="true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F</a:t>
            </a:r>
            <a:r>
              <a:rPr lang="en-US" b="true" sz="1809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AST </a:t>
            </a:r>
          </a:p>
          <a:p>
            <a:pPr algn="ctr">
              <a:lnSpc>
                <a:spcPts val="2532"/>
              </a:lnSpc>
            </a:pPr>
            <a:r>
              <a:rPr lang="en-US" b="true" sz="1809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DECISIONS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383431" y="5183168"/>
            <a:ext cx="1721869" cy="59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</a:pPr>
            <a:r>
              <a:rPr lang="en-US" sz="1723" b="true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KNO</a:t>
            </a:r>
            <a:r>
              <a:rPr lang="en-US" b="true" sz="1723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WLEDGE </a:t>
            </a:r>
          </a:p>
          <a:p>
            <a:pPr algn="ctr">
              <a:lnSpc>
                <a:spcPts val="2412"/>
              </a:lnSpc>
            </a:pPr>
            <a:r>
              <a:rPr lang="en-US" b="true" sz="1723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PRESERVATION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3963451" y="4425803"/>
            <a:ext cx="3627317" cy="54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1"/>
              </a:lnSpc>
            </a:pPr>
            <a:r>
              <a:rPr lang="en-US" sz="1594" b="true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• Decision Spee</a:t>
            </a:r>
            <a:r>
              <a:rPr lang="en-US" b="true" sz="1594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d — time to manually locate relevant history vs. using NWIS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3963451" y="5732675"/>
            <a:ext cx="3976391" cy="495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5"/>
              </a:lnSpc>
            </a:pPr>
            <a:r>
              <a:rPr lang="en-US" sz="1432" b="true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• Risk Awareness</a:t>
            </a:r>
            <a:r>
              <a:rPr lang="en-US" b="true" sz="1432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 — % of historical risk events surfaced before matching depth/formation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3925351" y="7029798"/>
            <a:ext cx="3825200" cy="47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1"/>
              </a:lnSpc>
            </a:pPr>
            <a:r>
              <a:rPr lang="en-US" sz="1372" b="true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• Downtime/NPT</a:t>
            </a:r>
            <a:r>
              <a:rPr lang="en-US" b="true" sz="1372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 — estimated reduction from historical mitigation practices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4019393" y="8449965"/>
            <a:ext cx="3571375" cy="55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4"/>
              </a:lnSpc>
            </a:pPr>
            <a:r>
              <a:rPr lang="en-US" sz="1617" b="true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• Knowledge</a:t>
            </a:r>
            <a:r>
              <a:rPr lang="en-US" b="true" sz="1617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 Reuse — % of historical events made searchable via NWIS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5318035" y="4215798"/>
            <a:ext cx="1719973" cy="76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8"/>
              </a:lnSpc>
            </a:pPr>
            <a:r>
              <a:rPr lang="en-US" sz="2163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HISTORICAL WELL DATA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8530728" y="4267185"/>
            <a:ext cx="1719973" cy="76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8"/>
              </a:lnSpc>
            </a:pPr>
            <a:r>
              <a:rPr lang="en-US" sz="2163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NEARBY WELL MATCHING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550859" y="4117773"/>
            <a:ext cx="1719973" cy="76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8"/>
              </a:lnSpc>
            </a:pPr>
            <a:r>
              <a:rPr lang="en-US" sz="2163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DEPTH &amp; FORMATION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308510" y="6909276"/>
            <a:ext cx="1719973" cy="76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8"/>
              </a:lnSpc>
            </a:pPr>
            <a:r>
              <a:rPr lang="en-US" sz="2163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HISTROICAL</a:t>
            </a:r>
          </a:p>
          <a:p>
            <a:pPr algn="ctr">
              <a:lnSpc>
                <a:spcPts val="3028"/>
              </a:lnSpc>
            </a:pPr>
            <a:r>
              <a:rPr lang="en-US" sz="2163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EVENTS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8549778" y="6909276"/>
            <a:ext cx="1719973" cy="76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8"/>
              </a:lnSpc>
            </a:pPr>
            <a:r>
              <a:rPr lang="en-US" sz="2163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RISK PATTERN </a:t>
            </a:r>
          </a:p>
          <a:p>
            <a:pPr algn="ctr">
              <a:lnSpc>
                <a:spcPts val="3028"/>
              </a:lnSpc>
            </a:pPr>
            <a:r>
              <a:rPr lang="en-US" sz="2163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DETECTED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1684209" y="7001223"/>
            <a:ext cx="1719973" cy="76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8"/>
              </a:lnSpc>
            </a:pPr>
            <a:r>
              <a:rPr lang="en-US" sz="2163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EXPLAINABLE</a:t>
            </a:r>
          </a:p>
          <a:p>
            <a:pPr algn="ctr">
              <a:lnSpc>
                <a:spcPts val="3028"/>
              </a:lnSpc>
            </a:pPr>
            <a:r>
              <a:rPr lang="en-US" sz="2163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ALERT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5184072" y="4994968"/>
            <a:ext cx="2125646" cy="115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4044" indent="-177022" lvl="1">
              <a:lnSpc>
                <a:spcPts val="2295"/>
              </a:lnSpc>
              <a:buFont typeface="Arial"/>
              <a:buChar char="•"/>
            </a:pPr>
            <a:r>
              <a:rPr lang="en-US" sz="163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WELLS</a:t>
            </a:r>
          </a:p>
          <a:p>
            <a:pPr algn="l" marL="354044" indent="-177022" lvl="1">
              <a:lnSpc>
                <a:spcPts val="2295"/>
              </a:lnSpc>
              <a:buFont typeface="Arial"/>
              <a:buChar char="•"/>
            </a:pPr>
            <a:r>
              <a:rPr lang="en-US" sz="163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EVENTS</a:t>
            </a:r>
          </a:p>
          <a:p>
            <a:pPr algn="l" marL="354044" indent="-177022" lvl="1">
              <a:lnSpc>
                <a:spcPts val="2295"/>
              </a:lnSpc>
              <a:buFont typeface="Arial"/>
              <a:buChar char="•"/>
            </a:pPr>
            <a:r>
              <a:rPr lang="en-US" sz="163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FORMATION</a:t>
            </a:r>
          </a:p>
          <a:p>
            <a:pPr algn="l" marL="354044" indent="-177022" lvl="1">
              <a:lnSpc>
                <a:spcPts val="2295"/>
              </a:lnSpc>
              <a:buFont typeface="Arial"/>
              <a:buChar char="•"/>
            </a:pPr>
            <a:r>
              <a:rPr lang="en-US" sz="163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PARAMETERS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8081177" y="5128210"/>
            <a:ext cx="2125646" cy="866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4044" indent="-177022" lvl="1">
              <a:lnSpc>
                <a:spcPts val="2295"/>
              </a:lnSpc>
              <a:buFont typeface="Arial"/>
              <a:buChar char="•"/>
            </a:pPr>
            <a:r>
              <a:rPr lang="en-US" sz="163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LOCATION SEARCH</a:t>
            </a:r>
          </a:p>
          <a:p>
            <a:pPr algn="l" marL="354044" indent="-177022" lvl="1">
              <a:lnSpc>
                <a:spcPts val="2295"/>
              </a:lnSpc>
              <a:buFont typeface="Arial"/>
              <a:buChar char="•"/>
            </a:pPr>
            <a:r>
              <a:rPr lang="en-US" sz="163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WITHIN 5-20KM RADIUS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1227009" y="4998832"/>
            <a:ext cx="2520073" cy="866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4044" indent="-177022" lvl="1">
              <a:lnSpc>
                <a:spcPts val="2295"/>
              </a:lnSpc>
              <a:buFont typeface="Arial"/>
              <a:buChar char="•"/>
            </a:pPr>
            <a:r>
              <a:rPr lang="en-US" sz="163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MATCH DEPTH</a:t>
            </a:r>
          </a:p>
          <a:p>
            <a:pPr algn="l" marL="354044" indent="-177022" lvl="1">
              <a:lnSpc>
                <a:spcPts val="2295"/>
              </a:lnSpc>
              <a:buFont typeface="Arial"/>
              <a:buChar char="•"/>
            </a:pPr>
            <a:r>
              <a:rPr lang="en-US" sz="163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SAME GEOLOGICAL LAYER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4984881" y="7805496"/>
            <a:ext cx="2180326" cy="14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4044" indent="-177022" lvl="1">
              <a:lnSpc>
                <a:spcPts val="2295"/>
              </a:lnSpc>
              <a:buFont typeface="Arial"/>
              <a:buChar char="•"/>
            </a:pPr>
            <a:r>
              <a:rPr lang="en-US" sz="163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SIMILAR INCIDENTS FOUND</a:t>
            </a:r>
          </a:p>
          <a:p>
            <a:pPr algn="l" marL="354044" indent="-177022" lvl="1">
              <a:lnSpc>
                <a:spcPts val="2295"/>
              </a:lnSpc>
              <a:buFont typeface="Arial"/>
              <a:buChar char="•"/>
            </a:pPr>
            <a:r>
              <a:rPr lang="en-US" sz="163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MUD LOSS,KICKS,STUCK PIPE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7928045" y="7817470"/>
            <a:ext cx="2180326" cy="14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4044" indent="-177022" lvl="1">
              <a:lnSpc>
                <a:spcPts val="2295"/>
              </a:lnSpc>
              <a:buFont typeface="Arial"/>
              <a:buChar char="•"/>
            </a:pPr>
            <a:r>
              <a:rPr lang="en-US" sz="163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SIMILAR INCIDENTS FOUND</a:t>
            </a:r>
          </a:p>
          <a:p>
            <a:pPr algn="l" marL="354044" indent="-177022" lvl="1">
              <a:lnSpc>
                <a:spcPts val="2295"/>
              </a:lnSpc>
              <a:buFont typeface="Arial"/>
              <a:buChar char="•"/>
            </a:pPr>
            <a:r>
              <a:rPr lang="en-US" sz="163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MUD LOSS,KICKS,STUCK PIPE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0871210" y="7817470"/>
            <a:ext cx="2180326" cy="866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4044" indent="-177022" lvl="1">
              <a:lnSpc>
                <a:spcPts val="2295"/>
              </a:lnSpc>
              <a:buFont typeface="Arial"/>
              <a:buChar char="•"/>
            </a:pPr>
            <a:r>
              <a:rPr lang="en-US" sz="163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RISK ALERT + EVIDENCE</a:t>
            </a:r>
          </a:p>
          <a:p>
            <a:pPr algn="l" marL="354044" indent="-177022" lvl="1">
              <a:lnSpc>
                <a:spcPts val="2295"/>
              </a:lnSpc>
              <a:buFont typeface="Arial"/>
              <a:buChar char="•"/>
            </a:pPr>
            <a:r>
              <a:rPr lang="en-US" sz="163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DECISION SUPPORT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5948643" y="2934576"/>
            <a:ext cx="6012730" cy="928137"/>
            <a:chOff x="0" y="0"/>
            <a:chExt cx="1583600" cy="24444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583600" cy="244448"/>
            </a:xfrm>
            <a:custGeom>
              <a:avLst/>
              <a:gdLst/>
              <a:ahLst/>
              <a:cxnLst/>
              <a:rect r="r" b="b" t="t" l="l"/>
              <a:pathLst>
                <a:path h="244448" w="1583600">
                  <a:moveTo>
                    <a:pt x="0" y="0"/>
                  </a:moveTo>
                  <a:lnTo>
                    <a:pt x="1583600" y="0"/>
                  </a:lnTo>
                  <a:lnTo>
                    <a:pt x="1583600" y="244448"/>
                  </a:lnTo>
                  <a:lnTo>
                    <a:pt x="0" y="24444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1583600" cy="253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399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HOW NWIS CREATES IMPACT??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82212"/>
            <a:ext cx="18288000" cy="204788"/>
            <a:chOff x="0" y="0"/>
            <a:chExt cx="24384000" cy="273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73050"/>
            </a:xfrm>
            <a:custGeom>
              <a:avLst/>
              <a:gdLst/>
              <a:ahLst/>
              <a:cxnLst/>
              <a:rect r="r" b="b" t="t" l="l"/>
              <a:pathLst>
                <a:path h="2730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73050"/>
                  </a:lnTo>
                  <a:lnTo>
                    <a:pt x="0" y="2730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0412" y="198722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772618" y="6152237"/>
            <a:ext cx="7515382" cy="3929975"/>
            <a:chOff x="0" y="0"/>
            <a:chExt cx="15085769" cy="78887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085769" cy="7888714"/>
            </a:xfrm>
            <a:custGeom>
              <a:avLst/>
              <a:gdLst/>
              <a:ahLst/>
              <a:cxnLst/>
              <a:rect r="r" b="b" t="t" l="l"/>
              <a:pathLst>
                <a:path h="7888714" w="15085769">
                  <a:moveTo>
                    <a:pt x="15085769" y="189178"/>
                  </a:moveTo>
                  <a:lnTo>
                    <a:pt x="15085769" y="7699536"/>
                  </a:lnTo>
                  <a:cubicBezTo>
                    <a:pt x="15085769" y="7804057"/>
                    <a:pt x="14972689" y="7888714"/>
                    <a:pt x="14833076" y="7888714"/>
                  </a:cubicBezTo>
                  <a:lnTo>
                    <a:pt x="252693" y="7888714"/>
                  </a:lnTo>
                  <a:cubicBezTo>
                    <a:pt x="113080" y="7888714"/>
                    <a:pt x="0" y="7804057"/>
                    <a:pt x="0" y="7699536"/>
                  </a:cubicBezTo>
                  <a:lnTo>
                    <a:pt x="0" y="189178"/>
                  </a:lnTo>
                  <a:cubicBezTo>
                    <a:pt x="0" y="84657"/>
                    <a:pt x="113080" y="0"/>
                    <a:pt x="252693" y="0"/>
                  </a:cubicBezTo>
                  <a:lnTo>
                    <a:pt x="14833076" y="0"/>
                  </a:lnTo>
                  <a:cubicBezTo>
                    <a:pt x="14972689" y="0"/>
                    <a:pt x="15085769" y="84657"/>
                    <a:pt x="15085769" y="189178"/>
                  </a:cubicBezTo>
                  <a:close/>
                </a:path>
              </a:pathLst>
            </a:custGeom>
            <a:blipFill>
              <a:blip r:embed="rId5"/>
              <a:stretch>
                <a:fillRect l="0" t="-52468" r="0" b="-5246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13541" y="2492726"/>
            <a:ext cx="17022891" cy="34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0550" indent="-260275" lvl="1">
              <a:lnSpc>
                <a:spcPts val="3451"/>
              </a:lnSpc>
              <a:buFont typeface="Arial"/>
              <a:buChar char="•"/>
            </a:pPr>
            <a:r>
              <a:rPr lang="en-US" b="true" sz="287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2026 </a:t>
            </a:r>
            <a:r>
              <a:rPr lang="en-US" sz="28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PS 26121: eRTMAC-NWIS — Official problem statement. </a:t>
            </a:r>
            <a:r>
              <a:rPr lang="en-US" sz="2876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 tooltip="https://www.sih.gov.in/?utm_source=chatgpt.com"/>
              </a:rPr>
              <a:t>SIH 2026</a:t>
            </a:r>
          </a:p>
          <a:p>
            <a:pPr algn="just" marL="520550" indent="-260275" lvl="1">
              <a:lnSpc>
                <a:spcPts val="3451"/>
              </a:lnSpc>
              <a:buFont typeface="Arial"/>
              <a:buChar char="•"/>
            </a:pPr>
            <a:r>
              <a:rPr lang="en-US" b="true" sz="287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Oil India Limited</a:t>
            </a:r>
            <a:r>
              <a:rPr lang="en-US" sz="28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Organizational &amp; upstream oil/gas domain context. </a:t>
            </a:r>
            <a:r>
              <a:rPr lang="en-US" sz="2876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 tooltip="https://www.oil-india.com/?utm_source=chatgpt.com"/>
              </a:rPr>
              <a:t>Oil India Limited</a:t>
            </a:r>
          </a:p>
          <a:p>
            <a:pPr algn="just" marL="520550" indent="-260275" lvl="1">
              <a:lnSpc>
                <a:spcPts val="3451"/>
              </a:lnSpc>
              <a:buFont typeface="Arial"/>
              <a:buChar char="•"/>
            </a:pPr>
            <a:r>
              <a:rPr lang="en-US" b="true" sz="287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3W </a:t>
            </a:r>
            <a:r>
              <a:rPr lang="en-US" b="true" sz="287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</a:t>
            </a:r>
            <a:r>
              <a:rPr lang="en-US" sz="28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Petrobras — Public oil-well operational/event dataset. </a:t>
            </a:r>
            <a:r>
              <a:rPr lang="en-US" sz="2876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 tooltip="https://github.com/petrobras/3W?utm_source=chatgpt.com"/>
              </a:rPr>
              <a:t>3W Dataset</a:t>
            </a:r>
          </a:p>
          <a:p>
            <a:pPr algn="just" marL="520550" indent="-260275" lvl="1">
              <a:lnSpc>
                <a:spcPts val="3451"/>
              </a:lnSpc>
              <a:buFont typeface="Arial"/>
              <a:buChar char="•"/>
            </a:pPr>
            <a:r>
              <a:rPr lang="en-US" b="true" sz="287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DataDrill</a:t>
            </a:r>
            <a:r>
              <a:rPr lang="en-US" sz="28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SPE — Public drilling dataset for formation-pressure/kick analysis. </a:t>
            </a:r>
            <a:r>
              <a:rPr lang="en-US" sz="2876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 tooltip="https://connect.spe.org/blogs/bruno-mapurunga/2025/06/26/datadrill-public-dataset-for-formation-pressure-pr?utm_source=chatgpt.com"/>
              </a:rPr>
              <a:t>DataDrill</a:t>
            </a:r>
          </a:p>
          <a:p>
            <a:pPr algn="just" marL="520550" indent="-260275" lvl="1">
              <a:lnSpc>
                <a:spcPts val="3451"/>
              </a:lnSpc>
              <a:buFont typeface="Arial"/>
              <a:buChar char="•"/>
            </a:pPr>
            <a:r>
              <a:rPr lang="en-US" b="true" sz="287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National Data Repository</a:t>
            </a:r>
            <a:r>
              <a:rPr lang="en-US" sz="28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DGH, India — Reference for Indian E&amp;P/well data. </a:t>
            </a:r>
            <a:r>
              <a:rPr lang="en-US" sz="2876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 tooltip="https://ndr.dghindia.gov.in/?utm_source=chatgpt.com"/>
              </a:rPr>
              <a:t>National Data Repository</a:t>
            </a:r>
          </a:p>
          <a:p>
            <a:pPr algn="just" marL="520550" indent="-260275" lvl="1">
              <a:lnSpc>
                <a:spcPts val="3451"/>
              </a:lnSpc>
              <a:buFont typeface="Arial"/>
              <a:buChar char="•"/>
            </a:pPr>
            <a:r>
              <a:rPr lang="en-US" b="true" sz="287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Prototype Dataset</a:t>
            </a:r>
            <a:r>
              <a:rPr lang="en-US" sz="28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Synthetic data created for demonstration due to limited public access to required Oil India offset-well records.</a:t>
            </a:r>
          </a:p>
          <a:p>
            <a:pPr algn="just">
              <a:lnSpc>
                <a:spcPts val="3451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11126" y="305966"/>
            <a:ext cx="1403986" cy="1403986"/>
          </a:xfrm>
          <a:custGeom>
            <a:avLst/>
            <a:gdLst/>
            <a:ahLst/>
            <a:cxnLst/>
            <a:rect r="r" b="b" t="t" l="l"/>
            <a:pathLst>
              <a:path h="1403986" w="1403986">
                <a:moveTo>
                  <a:pt x="0" y="0"/>
                </a:moveTo>
                <a:lnTo>
                  <a:pt x="1403987" y="0"/>
                </a:lnTo>
                <a:lnTo>
                  <a:pt x="1403987" y="1403987"/>
                </a:lnTo>
                <a:lnTo>
                  <a:pt x="0" y="1403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967550" y="300717"/>
            <a:ext cx="1640834" cy="1292424"/>
            <a:chOff x="0" y="0"/>
            <a:chExt cx="2554516" cy="2012098"/>
          </a:xfrm>
        </p:grpSpPr>
        <p:sp>
          <p:nvSpPr>
            <p:cNvPr name="Freeform 17" id="17" descr="Your startup LOGO"/>
            <p:cNvSpPr/>
            <p:nvPr/>
          </p:nvSpPr>
          <p:spPr>
            <a:xfrm flipH="false" flipV="false" rot="0">
              <a:off x="0" y="0"/>
              <a:ext cx="2554478" cy="2012110"/>
            </a:xfrm>
            <a:custGeom>
              <a:avLst/>
              <a:gdLst/>
              <a:ahLst/>
              <a:cxnLst/>
              <a:rect r="r" b="b" t="t" l="l"/>
              <a:pathLst>
                <a:path h="2012110" w="2554478">
                  <a:moveTo>
                    <a:pt x="0" y="1006057"/>
                  </a:moveTo>
                  <a:cubicBezTo>
                    <a:pt x="0" y="450478"/>
                    <a:pt x="571881" y="0"/>
                    <a:pt x="1277239" y="0"/>
                  </a:cubicBezTo>
                  <a:cubicBezTo>
                    <a:pt x="1982597" y="0"/>
                    <a:pt x="2554478" y="450478"/>
                    <a:pt x="2554478" y="1006057"/>
                  </a:cubicBezTo>
                  <a:cubicBezTo>
                    <a:pt x="2554478" y="1561635"/>
                    <a:pt x="1982597" y="2012110"/>
                    <a:pt x="1277239" y="2012110"/>
                  </a:cubicBezTo>
                  <a:cubicBezTo>
                    <a:pt x="571881" y="2012110"/>
                    <a:pt x="0" y="1561635"/>
                    <a:pt x="0" y="1006057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554516" cy="2012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sz="3599">
                  <a:solidFill>
                    <a:srgbClr val="000000"/>
                  </a:solidFill>
                  <a:latin typeface="Gagalin"/>
                  <a:ea typeface="Gagalin"/>
                  <a:cs typeface="Gagalin"/>
                  <a:sym typeface="Gagalin"/>
                </a:rPr>
                <a:t>Sp</a:t>
              </a:r>
              <a:r>
                <a:rPr lang="en-US" sz="3599">
                  <a:solidFill>
                    <a:srgbClr val="000000"/>
                  </a:solidFill>
                  <a:latin typeface="Gagalin"/>
                  <a:ea typeface="Gagalin"/>
                  <a:cs typeface="Gagalin"/>
                  <a:sym typeface="Gagalin"/>
                </a:rPr>
                <a:t>aceX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DAHTA_9IuaY</dc:identifier>
  <dcterms:modified xsi:type="dcterms:W3CDTF">2011-08-01T06:04:30Z</dcterms:modified>
  <cp:revision>1</cp:revision>
  <dc:title>SIH2026-IDEA-Presentation-Format.pptx</dc:title>
</cp:coreProperties>
</file>